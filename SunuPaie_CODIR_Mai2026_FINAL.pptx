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94" r:id="rId25"/>
    <p:sldId id="295" r:id="rId26"/>
    <p:sldId id="296" r:id="rId27"/>
    <p:sldId id="297" r:id="rId28"/>
    <p:sldId id="285" r:id="rId29"/>
    <p:sldId id="286" r:id="rId30"/>
    <p:sldId id="281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Hommes</c:v>
                </c:pt>
              </c:strCache>
            </c:strRef>
          </c:tx>
          <c:spPr>
            <a:solidFill>
              <a:srgbClr val="1A73B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&lt;25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-12</c:v>
                </c:pt>
                <c:pt idx="1">
                  <c:v>-28</c:v>
                </c:pt>
                <c:pt idx="2">
                  <c:v>-42</c:v>
                </c:pt>
                <c:pt idx="3">
                  <c:v>-25</c:v>
                </c:pt>
                <c:pt idx="4">
                  <c:v>-8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9-4F88-8E30-1302ACAD28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Femmes</c:v>
                </c:pt>
              </c:strCache>
            </c:strRef>
          </c:tx>
          <c:spPr>
            <a:solidFill>
              <a:srgbClr val="E5003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&lt;25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F9-4F88-8E30-1302ACAD2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26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SunuPaie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intégrée GRH-Paie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Présentation</a:t>
            </a:r>
            <a:r>
              <a:rPr lang="en-US" sz="16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Validation mise en production V1.0 / V1.1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54864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 2026</a:t>
            </a:r>
            <a:r>
              <a:rPr lang="en-US" sz="1400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r>
              <a:rPr lang="en-US" sz="14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Présenté par Abdoulaye DIENG</a:t>
            </a:r>
            <a:endParaRPr lang="en-US" sz="1400" dirty="0"/>
          </a:p>
        </p:txBody>
      </p:sp>
      <p:pic>
        <p:nvPicPr>
          <p:cNvPr id="1026" name="Image 1">
            <a:extLst>
              <a:ext uri="{FF2B5EF4-FFF2-40B4-BE49-F238E27FC236}">
                <a16:creationId xmlns:a16="http://schemas.microsoft.com/office/drawing/2014/main" id="{27C74B12-B3F8-E4C2-60F0-02BC01FDF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30" y="205740"/>
            <a:ext cx="711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Sommaire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de la présentation (1h30 + Q&amp;A)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Contexte &amp; vue d'ensemble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Pourquoi ce projet, périmètre,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118872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498080" y="1188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Modules métier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029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Paie, RH, Intérimaires, Imports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82880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498080" y="1828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2377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Décisionnel &amp; Dashboards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2670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tableaux de bord RH analytiques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246888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49808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Sécurité &amp; Conformité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3310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RBAC, audit, droit social Sénégal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310896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49808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8872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Statut livraison &amp; Bénéfices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39502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V1.0, V1.1, gains chiffrés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374904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498080" y="3749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502920" cy="50292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572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18872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Mise en production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88720" y="4590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Plan, risques, roadmap, demande de validation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0" y="4389120"/>
            <a:ext cx="11887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498080" y="4389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Contexte &amp; enjeux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Fafadie Paie en place - SunuPaie étend la couverture vers le RH complet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73152" cy="35661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📊  AUJOURD'HUI  -  Fafadie Paie en 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Fafadie Paie : génération et impression des bulletins OK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Calculs paie SN (IPRES, CSS, IR, TRIMF) maitrisés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MAIS aucune dimension RH élaborée :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gestion des contrats (CDI/CDD/Stage)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gestion congés / missions / formations / évaluations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gestion prêts / avances avec échéanciers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gestion intérimaires / mouvements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pilotage : aucun dashboard RH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d'audit ni de traçabilité des actions sensibles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73152" cy="3566160"/>
          </a:xfrm>
          <a:prstGeom prst="rect">
            <a:avLst/>
          </a:prstGeom>
          <a:solidFill>
            <a:srgbClr val="02AD60"/>
          </a:solidFill>
          <a:ln w="12700">
            <a:solidFill>
              <a:srgbClr val="02AD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AD6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🚀  DEMAIN  -  SunuPaie (extension Fafadie + RH complet)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Conserve l'acquis Fafadie : bulletins + déclarations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 la dimension RH complète :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Salariés / Contrats / Avancements / Offboarding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Congés / Missions / Formations / Évaluations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Prêts &amp; avances avec échéanciers + heures sup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Intérimaires (Sites / Unités multi-affectation)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Disciplinaire (Code Travail SN) + STC légal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dashboards + audit complet + RBAC + espace salarié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Comptabilité (export auto bulletins → écritures)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31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Périmètre fonctionnel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grands modules · 90+ entités · 60+ écrans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73152" cy="530352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9052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9052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Paie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90525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Bulletins · Périodes · Déclarations IPRES/CSS/VRS/1024 · Livre L.120 · Prêts &amp; avances · Heures sup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3560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435608"/>
            <a:ext cx="73152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1472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4721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RH cœur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472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Salariés · Contrats CDI/CDD/Stage · Avancements · Disciplinaire · Offboarding &amp; STC · Dossiers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0253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002536"/>
            <a:ext cx="73152" cy="530352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039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2039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RH workflows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203911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Congés · Missions/déplacements · Formations · Évaluations annuelles · Demandes attestations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569464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569464"/>
            <a:ext cx="73152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👷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Intérimaires V1.1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26060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Sites (Stations/Siège/Dépôts) · Unités hiérarchiques · Multi-affectation · Mouvements · Sociétés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13639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136392"/>
            <a:ext cx="73152" cy="530352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2920" y="3172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7280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Décisionnel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46120" y="31729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dashboards RH analytiques · Exports Excel/PDF · Filtres dynamiques · Cache 5 min · Audit complet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73152" cy="530352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2920" y="3739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97280" y="37398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Comptabilité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46120" y="373989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comptable · Écritures auto depuis bulletins · Export comptable · Réconciliation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27024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65760" y="4270248"/>
            <a:ext cx="73152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02920" y="4306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97280" y="43068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Paramétrage &amp; Imports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46120" y="43068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Rubriques · Barèmes IR/TRIMF · Templates Word · SMTP/Graph · Imports Excel salariés/RIB/conjoints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Architecture macro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 technique et flux applicatif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👥 Utilisateurs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097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DG · DRH · DAF · Comptable · Manager · Salarié · Intérimaire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🌐 Présentation Web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828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Blazor Server (DevExpress XAF 25.1) · Responsive · Accessible navigateur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⚙️ Logique métier (Module)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Services C# · Workflows · Calculs paie · DTO Dashboards · ImportServices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9728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💾 Persistance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291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Server 2019+ via XPO ORM · 90+ entités · GCRecord soft-delete · Audit trail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737360"/>
            <a:ext cx="0" cy="91440"/>
          </a:xfrm>
          <a:prstGeom prst="line">
            <a:avLst/>
          </a:prstGeom>
          <a:noFill/>
          <a:ln w="38100">
            <a:solidFill>
              <a:srgbClr val="E5003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0" y="2468880"/>
            <a:ext cx="0" cy="91440"/>
          </a:xfrm>
          <a:prstGeom prst="line">
            <a:avLst/>
          </a:prstGeom>
          <a:noFill/>
          <a:ln w="38100">
            <a:solidFill>
              <a:srgbClr val="E5003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0" y="3200400"/>
            <a:ext cx="0" cy="91440"/>
          </a:xfrm>
          <a:prstGeom prst="line">
            <a:avLst/>
          </a:prstGeom>
          <a:noFill/>
          <a:ln w="38100">
            <a:solidFill>
              <a:srgbClr val="E5003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⚡ Performance : cache mémoire 5 min sur les KPI · TTL configurable · IDataProtector pour les secrets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L'application en chiffres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90+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entités métier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Salariés, contrats, bulletins, congés…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65176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écrans XAF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+ detail views configurés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dashboards RH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Analytiques avec exports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18872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04088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pages d'aide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Step-by-step + cas d'usage ELTON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200+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permissions RBAC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rôles · granulaire par entité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297180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65176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26517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Congés · Missions · Formations · Évaluations · Avancements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8463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déclarations sociales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· CSS · VRS · État 1024 (DGID)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2971800"/>
            <a:ext cx="2011680" cy="160020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04088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100%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0408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actions tracées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Journal d'audit immutable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Paie · Cycle mensuel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Bulletins, périodes, déclarations sociales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Période ouverte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8288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Bulletins générés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Recalcul cotisations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9436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+ Email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23760" y="1097280"/>
            <a:ext cx="91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003D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1097280"/>
            <a:ext cx="128016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3152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Clôture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📋 Calculs intégrés (droit social Sénégal)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RG (5,60% / 8,40% - plafond 432 000)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RC cadres (2,40% / 3,60% - plafond 1 296 000)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AT (Accident travail variable)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AF (Allocation familiale variable)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 progressif (DGID) avec abattement 30% / 900 000 FCFA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TRIMF mensuel + annuel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CFCE (base brut fiscal)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📊 Déclarations exportables (Excel)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Bordereau IPRES (mensuel)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Bordereau CSS (mensuel)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État VRS - Versement Retenue à la Source (DGID, mensuel)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Déclaration 1024 (DGID, annuelle)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Livre de Paie obligatoire (art. L.120, conservation 5 ans)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bulletin individuel + envoi email automatique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Génération en masse 200+ bulletins en 1 clic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Paie · Fonctionnalités avancées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Prêts, heures sup, régularisations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9748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Prêts &amp; avances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Échéancier auto (principal constant ou annuité)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Taux annuel configurable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Retenue auto sur bulletin chaque mois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Suspension / reprise / clôture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Avance ponctuelle = taux 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697480" cy="5486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3832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8620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Heures supplémentaires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Activable via Paramètres de paie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taux légaux SN (15/40/60/100%)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Calcul auto à partir du SB / 173,33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Intégrées au Brut Fiscal &amp; Social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Cotisations recalculées avec 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97480" cy="54864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63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Régularisations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Cumul annuel IR / TRIMF / IPRES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Régul fin d'année automatique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Régul mois de départ (offboarding)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Réduction familiale par parts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Simulation avant validation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RH · Gestion du personnel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Salariés, contrats, dossiers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60520" cy="4572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Fiches salariés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Identité complète · Contact urgence · Pièces d'identité (CNI, passeport, IPRES) · Famille (conjoints, enfants) · Comptes bancaires multi-RIB · Pièces jointes scannées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160520" cy="4572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91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Contrats de travail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CDI / CDD / Stage · Période d'essai · Avenants · Templates Word personnalisables · Génération PDF auto · Historique tous les contrats du salarié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60520" cy="45720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Dossiers salariés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Centralisation pièces RH · Type document configurable · Stockage chiffré · Recherche full-text · Permissions par rôle · Audit consultations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4160520" cy="45720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Avancements &amp; promotions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complet : Salarié → N+1 → N+2 → DAF → RH applique · Changement échelon / fonction / catégorie · Date d'effet auto sur bulletins futurs · Historique tracé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RH · Workflows opérationnels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Congés · Missions · Formations · Évaluations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🏖️ Congés &amp; absences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 → N+1 → N+2 → RH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097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familles : Annuel, Maladie, Maternité, Événement, Sans solde, Récup · Soldes auto · Justificatifs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✈️ Missions &amp; déplacements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 → N+1 → Asst.RH → RH → DAF → Comptable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Frais prévisionnels vs réels · État de frais PDF · Google Maps distances · Templates ordres mission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73152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🎓 Formations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 → Plan annuel → Sessions → Inscriptions → Présences → Attestations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Évaluation à froid J+30 / J+90 · Capacité, liste d'attente · Certificats PDF · Bilan annuel par axe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73152" cy="82296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📝 Évaluations annuelles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 (campagne) → N+1 (notes) → Salarié (auto-éval) → N+2 → RH (clôture)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Grille critères pondérés · Score global auto · Objectifs SMART N+1 · Signature électronique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RH · Vie du contrat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Disciplinaire &amp; Offboarding (STC)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⚖️  Procédure disciplinaire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Conforme Code du Travail Sénégal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Ouverture dossier (faute Simple/Grave/Lourde)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Notification écrite au salarié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Audition contradictoire (obligatoire)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PV d'audition documenté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Sanction motivée (max 8j mise à pied)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Clôture &amp; archivage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5486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👋  Offboarding &amp; STC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Solde de tout compte calculé selon droit SN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Indemnité congés non pris (× SB / 26)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Indemnité préavis (si licenciement / RC)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Indemnité licenciement (paliers 25/30/40%)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Prorata salarial du mois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RH → DAF → Clôture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Désactivation salarié + DateSortie auto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</a:t>
            </a:r>
            <a:r>
              <a:rPr lang="en-US" sz="2200" b="1" dirty="0" err="1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Intérimaires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Modèle</a:t>
            </a: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 - Hiérarchie organisationnelle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731520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📍  SITE  (TypeSite enum)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🏪 Station service · 🏢 Siège · 📦 Dépôt · 📍 Autre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194560"/>
            <a:ext cx="6400800" cy="50292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🏛️  UNITÉ ORGANISATIONNELLE  (récursive Parent/Enfants)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1645920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🔵 BU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(stations)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926080"/>
            <a:ext cx="164592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0896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🟢 Département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(Siège)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1645920" cy="77724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🟡 Segment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(commercial)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926080"/>
            <a:ext cx="1645920" cy="77724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58368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⚪ Autre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D4D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✨ Multi-affectation N-N : </a:t>
            </a: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intérimaire peut être affecté à PLUSIEURS unités simultanément (sans % de temps). </a:t>
            </a:r>
            <a:r>
              <a:rPr lang="en-US" sz="11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Mouvements traçables entre sites.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Imports en masse Excel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Workflow </a:t>
            </a:r>
            <a:r>
              <a:rPr lang="en-US" sz="1400" b="1" dirty="0" err="1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d'import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📥 Télécharger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modèle Excel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9456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19456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✏️ Remplir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4630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3192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93192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📤 Importer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.xlsx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14630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6928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✅ 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46304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146304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40664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📊 Rapport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créés / y ignorés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2697480" cy="4572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👥 Salariés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Matricule · Nom/Prénom · État civil · CNI · Échelon · SB/Logt · Département · Fonction · Email/Tel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606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46120" y="2606040"/>
            <a:ext cx="2697480" cy="4572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832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👫 Conjoints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2004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Polygamie supportée · DateMariage · DateFinUnion · Statut Actif/Inactif · Impact parts fiscales auto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126480" y="2606040"/>
            <a:ext cx="2697480" cy="45720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26364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🏦 Comptes bancaires (RIB)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2004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Multi-comptes · Modes Reliquat / MontantFixe / Pourcentage · Validation 100% · BIC/SWIFT optionnel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Comptabilité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Génération automatique des écritures depuis la paie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📄 Bulletin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09728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9456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19456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🔄 Génération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09728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3192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93192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📒 Écritures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comptables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09728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66928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📊 Plan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23760" y="109728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003D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06640" y="1097280"/>
            <a:ext cx="155448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406640" y="1097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📤 Export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logiciel compta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📒 Plan comptable &amp; Écritures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comptable OHADA / SYSCOHADA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Comptes paramétrables par rubrique de paie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Mapping automatique : RubriqueCompte / Override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Génération écritures à la validation bulletin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Numérotation continue par exercice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Réconciliation cumul mensuel / annuel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Soft-delete (GCRecord) pour audit conformité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📤 Exports comptables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5146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Excel par période (toutes écritures)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par lot (batch périodes / compte)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 compatible JDE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Génération en masse avec compteur d'erreurs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: qui a exporté quoi quand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Rejeu possible si erreur détectée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Permissions DAF/Comptable séparées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Espace Salarié &amp; Alertes RH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Self-service collaborateurs + notifications automatiques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5486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👤  Espace Salarié (self-service)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salarié accède à ses données 24/7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bulletins de paie (téléchargement PDF chiffré)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congés (demande, soldes, historique)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déplacements (saisie + frais réels)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attestations (travail, salaire, congés)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 entretien annuel (auto-évaluation)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formations (inscription, attestations)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documents personnels (sécurisé)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🔔  Alertes &amp; Notifications RH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Hosted services .NET tournant en arrière-plan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Attestation en attente RH &gt; N jours (relance auto)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Dossier intérimaire approchant l'expiration (CNI/contrat)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Évaluation à froid formation (J+30 puis J+90)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Alertes intérimaires (fin de mission proche)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 XAF par module (workflow)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heure d'envoi + emails RH dans Paramètres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 pilotage exécutif → 6 dashboards RH (cf. § Décisionnel)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Paramétrage &amp; Référentiels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Tout ce qui rend l'app adaptable sans redéploiement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60520" cy="4572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Rubriques &amp; Barèmes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Rubriques paie (canonique, taux salarial/patronal) · Barèmes IR/TRIMF mis à jour annuellement (lois finances) · Réduction familiale par parts · Cotisations IPRES/CSS configurables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160520" cy="4572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91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Structure organisationnelle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Sites + TypeSite (Station/Siège/Dépôt) · Unités hiérarchiques · Départements · Fonctions · Échelons · Catégories · Conventions collectives · Villes Sénégal référentiel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60520" cy="45720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Templates Word (.docx)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Attestations (travail, salaire, congés) · Certificats emploi · Cessation paiement · Ordres de mission · État de frais · Contrats CDI/CDD/Stage · Entretien annuel · Bilan social · Variables {{...}} dynamiques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4160520" cy="45720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2926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Communication &amp; Intégrations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SMTP / Microsoft Graph (Office 365) · Test email intégré · Adresses RH / DAF / Comptable configurables · Google Maps API (distances missions) · GeoNames (villes) · Power BI embedding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Tableaux de bord RH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dashboards analytiques pour le pilotage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1. Effectif détaillé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Pyramide des âges × catégorie pro · Distinction H/F · Évolution 3 ans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54880" y="11430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2. Analyse Effectif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Effectif global/moyen · Évolution 8 ans · Turnover · Démographie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2801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3. Mouvements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Arrivées / Départs · Par mois, motif, site, catégorie · Solde net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28600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228600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2377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4864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4. Rémunération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Masse salariale · Coût employeur · Égalité H/F segment &amp; catégorie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🏖️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28016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5. Suivi Absences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Taux d'absentéisme · Top 10 absents · Famille de congé · Évolution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520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72000" y="3520440"/>
            <a:ext cx="73152" cy="11430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54880" y="361188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48640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6. Bilan Social Mensuel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mois × 8 indicateurs DTSS · Synthèse annuelle · Charges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Dashboard </a:t>
            </a:r>
            <a:r>
              <a:rPr lang="en-US" sz="2200" b="1" dirty="0" err="1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exemple</a:t>
            </a: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 - Effectif détaillé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Pyramide des âges Hommes/Femmes × catégorie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9728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09728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492240" y="1097280"/>
            <a:ext cx="73152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62940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Effectif total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29400" y="1344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247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9400" y="16642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actifs au 31/12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92240" y="194767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6492240" y="1947672"/>
            <a:ext cx="73152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629400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Âge moyen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294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38 ans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629400" y="2514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Hommes 39 · Femmes 35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2798064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492240" y="2798064"/>
            <a:ext cx="73152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629400" y="2843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Femmes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29400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26%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629400" y="3364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+ 3 pts vs 2025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92240" y="3648456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6492240" y="3648456"/>
            <a:ext cx="73152" cy="7772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629400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Ancienneté moy.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29400" y="38953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7,2 ans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629400" y="42153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stable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Exports &amp; actions sur dashboards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PDF, refresh, aide intégrée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1280160"/>
            <a:ext cx="640080" cy="640080"/>
          </a:xfrm>
          <a:prstGeom prst="ellipse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Export Excel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Onglet Synthèse + détaillés · DataBars colorés · Prêt copier-coller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640080" cy="640080"/>
          </a:xfrm>
          <a:prstGeom prst="ellipse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004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Export PDF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A4 paysage · En-tête ELTON · 1 page imprimable · QuestPDF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440680" y="1280160"/>
            <a:ext cx="640080" cy="640080"/>
          </a:xfrm>
          <a:prstGeom prst="ellipse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406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Refresh manuel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 le cache TTL 5 min · Recharge depuis BDD · Bouton header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660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680960" y="1280160"/>
            <a:ext cx="640080" cy="640080"/>
          </a:xfrm>
          <a:prstGeom prst="ellipse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6809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Aide intégrée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HTML dédiée par dashboard · Cas d'usage · Glossaire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Lundi matin : </a:t>
            </a:r>
            <a:r>
              <a:rPr lang="en-US" sz="11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DG ouvre le Bilan Social Mensuel → 12 mois × 8 indicateurs en 3 secondes.   </a:t>
            </a: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Préparation Comité d'entreprise : </a:t>
            </a:r>
            <a:r>
              <a:rPr lang="en-US" sz="11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Excel Synthèse → coller dans Word → Powerpoint.   </a:t>
            </a: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DTSS : </a:t>
            </a:r>
            <a:r>
              <a:rPr lang="en-US" sz="11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prêt à imprimer avec en-tête conforme.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Sécurité · RBAC 4 rôles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Contrôle d'accès basé sur les rôles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Rôle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Bulletins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Salariés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Dashboards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Paramètres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Audit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Administrators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CRUD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CRUD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RH_Manager (DG/COMEX)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C667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-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RH (équipe RH)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CRUD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CRUD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C667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-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DAF (direction fin.)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 + Validation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AD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✅ Tous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C667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-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5288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👁 Lecture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C6679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Default / Comptable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 (redirige login)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003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Aucun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D4D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🔒 Sécurité XAF native : </a:t>
            </a:r>
            <a:r>
              <a:rPr lang="en-US" sz="10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permissions granulaires par entité × action × propriété. </a:t>
            </a:r>
            <a:r>
              <a:rPr lang="en-US" sz="1000" i="1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Authentification ASP.NET Identity + Cookies HTTPS only. Lockout après 5 tentatives.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Audit &amp; traçabilité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Toutes les actions sensibles tracées (immutable)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286000" cy="118872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🎬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Action métier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09728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003D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286000" cy="1188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1097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⚙️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Capture auto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(transparente)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09728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003D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Journal d'audit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(lecture seule)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📋 Informations enregistrées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71800"/>
          <a:ext cx="8412480" cy="1950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Date / heure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17/04/2026 14:32:08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Utilisateur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Abdoulaye DIENG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Entité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Bulletin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Valider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Objet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DIOP Moussa - 04/2026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Ancien statut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Brouillon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Nouveau statut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Validé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Détails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3B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Net à payer : 385 000 FCFA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Conformité droit social Sénégal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Travail + IPRES + CSS + DGID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6052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Code du Travail SN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Article L.120 - Livre paie 5 ans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Audition contradictoire disciplinaire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Mise à pied max 8 jours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Préavis selon ancienneté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Indemnités licenciement (paliers 25/30/40%)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4160520" cy="41148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91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097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Cotisations IPRES + CSS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RG : 5,60% / 8,40% (plafond 432K)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IPRES RC cadres : 2,40% / 3,60% (plafond 1,296M)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AT (variable selon risque)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AF (variable)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Bordereaux mensuels exportés Excel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60520" cy="411480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DGID - Fiscalité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 progressif (avec abattement 30% / 900K)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TRIMF mensuel + annuel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CFCE (base brut fiscal)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État VRS mensuel exportable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Déclaration 1024 annuelle (DGID)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97180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2971800"/>
            <a:ext cx="4160520" cy="411480"/>
          </a:xfrm>
          <a:prstGeom prst="rect">
            <a:avLst/>
          </a:prstGeom>
          <a:solidFill>
            <a:srgbClr val="094069"/>
          </a:solidFill>
          <a:ln w="12700">
            <a:solidFill>
              <a:srgbClr val="0940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20640" y="2971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Sécurité &amp; RGPD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 de passe SQL chiffré (DPAPI)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 obligatoire (cookies secure)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Lockout après 5 tentatives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Conservation entretiens : durée contrat + 5 ans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73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Logs audit immutables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Bénéfices attendus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Estimations fondées sur les pratiques sectorielles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150876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−70%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4028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Temps de paie mensuelle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4 jours à 1 jour pour 200 bulletins · Génération en masse · Export auto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4069080" cy="150876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00600" y="16002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Conformité légale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Travail SN · Livre paie L.120 · Cotisations à jour · Audit DTSS prêt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69080" cy="150876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+95%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24028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Traçabilité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02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Toutes actions tracées · Qui/quand/quoi · Lecture seule audit · Reporting préparé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108960"/>
            <a:ext cx="4069080" cy="1508760"/>
          </a:xfrm>
          <a:prstGeom prst="rect">
            <a:avLst/>
          </a:prstGeom>
          <a:solidFill>
            <a:srgbClr val="0F5288"/>
          </a:solidFill>
          <a:ln w="254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00600" y="32461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003D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x10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Capacité de pilotage RH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dashboards en temps réel · Exports prêts COMEX · Alertes seuils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ADDENDUM CODIR · V1.4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0F6E56"/>
                </a:solidFill>
                <a:latin typeface="Calibri"/>
              </a:rPr>
              <a:t>Module Recrutement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1A1A1A"/>
                </a:solidFill>
                <a:latin typeface="Calibri"/>
              </a:rPr>
              <a:t>Pilotage 360 du processus d'acquisition de talents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0F6E56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Entites persistantes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918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1A7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1A73B5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Workflows metier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918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F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18A1C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KPIs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29184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3383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1E3A8A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Etapes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698480" cy="1188720"/>
          </a:xfrm>
          <a:prstGeom prst="roundRect">
            <a:avLst>
              <a:gd name="adj" fmla="val 4000"/>
            </a:avLst>
          </a:prstGeom>
          <a:solidFill>
            <a:srgbClr val="E8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Calibri"/>
              </a:rPr>
              <a:t>Pourquoi ce module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Centralise dans XAF un processus jusqu'ici eclate entre Excel et e-mails. Pipeline tracable poste-par-poste, cout d'acquisition par source, alertes periodes d'essai, taux de retention. Conforme CCT Senegal.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64748B"/>
                </a:solidFill>
                <a:latin typeface="Calibri"/>
              </a:rPr>
              <a:t>SunuPaie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ELTON · Addendum CODIR V1.4 </a:t>
            </a:r>
            <a:r>
              <a:rPr lang="fr-FR" sz="9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Module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Recrutement</a:t>
            </a:r>
            <a:endParaRPr sz="9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Slide 1/4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F6E56"/>
                </a:solidFill>
                <a:latin typeface="Calibri"/>
              </a:rPr>
              <a:t>Modele de donnees - 10 entites, 6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Tout regroupe dans le menu GRH - Recrutement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749039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Calibri"/>
              </a:rPr>
              <a:t>1. Referentiels (4)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38327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- Motif d'ouverture poste
- Source de recrutement (avec cout)
- Motif refus candidat (entreprise)
- Motif refus offre (candidat)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49039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Calibri"/>
              </a:rPr>
              <a:t>2. Pipeline coeur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38327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- Poste vacant - workflow 6 statuts
  Brouillon -&gt; Valide -&gt; Publie
  -&gt; En recrutement -&gt; Pourvu
- Candidat - fiche personne unique
  (multi-candidatures possibles)
- Candidature - pipeline 10 statuts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749039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F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18A1C"/>
                </a:solidFill>
                <a:latin typeface="Calibri"/>
              </a:rPr>
              <a:t>3. Suivi (3)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38327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- Entretien - 6 types, note 1-5,
  4 niveaux d'avis
- Offre d'emploi - salaire + avantages,
  6 statuts dont Refusee candidat
- Periode d'essai - 3 mois CCT SN,
  6 issues, taux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Pipeline candidature - 7 etapes positives + 3 etats terminaux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57400" y="52120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Pre-selection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52120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Entretien planifie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57800" y="52120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Entretien fait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52120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Offre proposee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52120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Offre acceptee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5212080"/>
            <a:ext cx="1554480" cy="502920"/>
          </a:xfrm>
          <a:prstGeom prst="roundRect">
            <a:avLst>
              <a:gd name="adj" fmla="val 30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0" y="52120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Embauche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DC2626"/>
                </a:solidFill>
                <a:latin typeface="Calibri"/>
              </a:rPr>
              <a:t>Etats terminaux negatifs : Refuse (90) - Desistement candidat (91) - Annule (99)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64748B"/>
                </a:solidFill>
                <a:latin typeface="Calibri"/>
              </a:rPr>
              <a:t>SunuPaie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ELTON · Addendum CODIR V1.4 </a:t>
            </a:r>
            <a:r>
              <a:rPr lang="fr-FR" sz="9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Module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Recrutement</a:t>
            </a:r>
            <a:endParaRPr sz="9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Slide 2/4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F6E56"/>
                </a:solidFill>
                <a:latin typeface="Calibri"/>
              </a:rPr>
              <a:t>Tableau N12 - Pilotage Recrutement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Vue 360 pour la DRH - Toggle Interne / Externe (interim)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A7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1A7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Postes ouverts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Valides / Publies / En recrutement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5087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Postes pourvus YTD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Statut Pourvu sur l'annee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73152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Embauches YTD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Taux conversion : Emb / Cand recues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41732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1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417320"/>
            <a:ext cx="73152" cy="960120"/>
          </a:xfrm>
          <a:prstGeom prst="rect">
            <a:avLst/>
          </a:prstGeom>
          <a:solidFill>
            <a:srgbClr val="F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15087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Delai moyen recrutement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74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Date Cloture - Date Ouverture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51460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514600"/>
            <a:ext cx="73152" cy="960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606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Cout total recrutement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Sigma cout source x nb candidats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51460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37560" y="2514600"/>
            <a:ext cx="73152" cy="9601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0440" y="2606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Candidatures actives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29718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Hors statuts terminaux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51460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2514600"/>
            <a:ext cx="73152" cy="9601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606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Taux acceptation offres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9718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Acceptees / Envoyees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2514600"/>
            <a:ext cx="2743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98280" y="2514600"/>
            <a:ext cx="73152" cy="960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26060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Periodes d'essai en cours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9718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Taux retention post-essai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7 sections analytiques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434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434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Pipeline funnel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663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7 barres horizontales avec taux de conversion etape par etape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434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44348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434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Top 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663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Performance par origine (LinkedIn, ANEM...) avec cout/embauche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937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4937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9377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Delai par categorie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1663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Cadres/Maitrise/Employes - moyenne, min, max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937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17920" y="4937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9377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Postes ouverts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1663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Tri par jours d'ouverture (alerte orange si &gt; 60j)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440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54406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4406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Evolution mensuelle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56692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Ouvertures vs Candidatures vs Embauches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5440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17920" y="54406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54406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Periodes d'essai cours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6692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Alerte si &lt; 7j restants pour decision manager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943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59436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9436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Motifs de refus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61722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Cote entreprise + cote candidat (analyse strategique)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53796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64748B"/>
                </a:solidFill>
                <a:latin typeface="Calibri"/>
              </a:rPr>
              <a:t>SunuPaie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ELTON · Addendum CODIR V1.4 </a:t>
            </a:r>
            <a:r>
              <a:rPr lang="fr-FR" sz="9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Module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Recrutement</a:t>
            </a:r>
            <a:endParaRPr sz="9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Slide 3/4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F6E56"/>
                </a:solidFill>
                <a:latin typeface="Calibri"/>
              </a:rPr>
              <a:t>Benefices attendus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Investissement V1.4 : ~11 jours dev - Mise en service immediate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155448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Calibri"/>
              </a:rPr>
              <a:t>DRH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Pilotage operationnel temps reel : pipeline visualise, alertes postes longs (&gt;60j), periodes d'essai en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109728" cy="1554480"/>
          </a:xfrm>
          <a:prstGeom prst="rect">
            <a:avLst/>
          </a:prstGeom>
          <a:solidFill>
            <a:srgbClr val="1A7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A73B5"/>
                </a:solidFill>
                <a:latin typeface="Calibri"/>
              </a:rPr>
              <a:t>DAF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Visibilite du cout d'acquisition par source, par embauche. Reallocation budget vers sources les plus efficaces.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109728" cy="1554480"/>
          </a:xfrm>
          <a:prstGeom prst="rect">
            <a:avLst/>
          </a:prstGeom>
          <a:solidFill>
            <a:srgbClr val="F1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18A1C"/>
                </a:solidFill>
                <a:latin typeface="Calibri"/>
              </a:rPr>
              <a:t>Manager hierarchique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Suivi des candidats sur ses postes ouverts. Notes d'entretien centralisees. Decision periode d'essai documentee.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0896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108960"/>
            <a:ext cx="109728" cy="1554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Conformite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6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Tracabilite legale : motifs de refus consignes, periode d'essai 3 mois CCT Senegal, lien Salarie/Candidature.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E8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6E56"/>
                </a:solidFill>
                <a:latin typeface="Calibri"/>
              </a:rPr>
              <a:t>Roadmap V1.4.1 / V1.5 (a valider CODIR)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- V1.4.1 : Export Excel/PDF du dashboard N12, filtres avances (recrutement interim).
- V1.5   : Workflow XAF state-machine (validations DRH, notifications email auto).
- V1.5   : Portail candidat externe pour soumission CV en ligne (option).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F6E56"/>
                </a:solidFill>
                <a:latin typeface="Calibri"/>
              </a:rPr>
              <a:t>Demande de validation CODIR : mise en production V1.4 immediate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64748B"/>
                </a:solidFill>
                <a:latin typeface="Calibri"/>
              </a:rPr>
              <a:t>SunuPaie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ELTON · Addendum CODIR V1.4 </a:t>
            </a:r>
            <a:r>
              <a:rPr lang="fr-FR" sz="9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Module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Recrutement</a:t>
            </a:r>
            <a:endParaRPr sz="9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Slide 4/4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Démonstration en direct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20-30 minutes sur l'environnement Recette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0-3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Connexion &amp; accueil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097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utilisateur RH · Tableau de bord d'accueil · Navigation principale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3-8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Cycle paie complet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Ouvrir période · Générer bulletins en masse · Recalculer · Valider · Exporter PDF/Excel · Bordereau IPRES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240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8-13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Workflow congés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Salarié saisit demande · N+1 valide · RH accorde · Calendrier mis à jour · Solde décrémenté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5760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13-18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Module Intérimaires V1.1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Créer fiche · Demande recrutement · Contrat avec multi-affectation Site/Unités · Mouvement entre sites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5760" y="3429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18-25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 Dashboards RH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Tour des 6 dashboards · Filtres · Export Excel synthèse · Bilan Social Mensuel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1188720" cy="54864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4023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25-30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9164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Sécurité &amp; Audit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23360" y="4069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Connexion en RH_Manager (lecture seule) · Journal d'audit · Validation traçabilité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940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Q&amp;A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· Échanges · Décision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3383280"/>
            <a:ext cx="1828800" cy="54864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Merci pour votre attention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Abdoulaye DIENG</a:t>
            </a:r>
            <a:r>
              <a:rPr lang="en-US" sz="1300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r>
              <a:rPr lang="en-US" sz="13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Direction Système d'Information</a:t>
            </a:r>
            <a:r>
              <a:rPr lang="en-US" sz="1300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r>
              <a:rPr lang="en-US" sz="13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ELTON Oil Company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Plan de mise en production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Stratégie de bascule en 4 phases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731520" cy="841248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Préparation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Semaine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Migration dbconfig %ProgramData% · Création comptes utilisateurs (RBAC) · Import salariés via Excel · Formation utilisateurs clés (4h × 2 sessions)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731520" cy="841248"/>
          </a:xfrm>
          <a:prstGeom prst="rect">
            <a:avLst/>
          </a:prstGeom>
          <a:solidFill>
            <a:srgbClr val="E5003D"/>
          </a:solidFill>
          <a:ln w="12700">
            <a:solidFill>
              <a:srgbClr val="E50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1938528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1984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Pilote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350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Semaine 2-3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19842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Bascule équipe RH (5 personnes) · Génération bulletins parallèle Excel + SunuPaie · Comparaison résultats · Ajustements paramètres rubriques / barèmes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25496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2825496"/>
            <a:ext cx="731520" cy="841248"/>
          </a:xfrm>
          <a:prstGeom prst="rect">
            <a:avLst/>
          </a:prstGeom>
          <a:solidFill>
            <a:srgbClr val="0F5288"/>
          </a:solidFill>
          <a:ln w="12700">
            <a:solidFill>
              <a:srgbClr val="0F52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2825496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3444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236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Semaine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287121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Bascule 100% équipe RH + DAF · Communication tous salariés (espace salarié) · Activation workflows congés/missions · Désactivation seed démo (DEMO_*)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731520" cy="841248"/>
          </a:xfrm>
          <a:prstGeom prst="rect">
            <a:avLst/>
          </a:prstGeom>
          <a:solidFill>
            <a:srgbClr val="02AD60"/>
          </a:solidFill>
          <a:ln w="12700">
            <a:solidFill>
              <a:srgbClr val="02AD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3712464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234440" y="37581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B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Stabilisation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123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0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Mois 2-3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375818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Suivi quotidien KPI dashboards · Hotfixes mineurs si besoin · Onboarding nouveaux utilisateurs · Bilan post-bascule + ROI mesuré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SunuPaie ELTON · CODIR Mai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/ 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3776</Words>
  <Application>Microsoft Office PowerPoint</Application>
  <PresentationFormat>Affichage à l'écran (16:9)</PresentationFormat>
  <Paragraphs>684</Paragraphs>
  <Slides>30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Arial</vt:lpstr>
      <vt:lpstr>Calibri</vt:lpstr>
      <vt:lpstr>Poppins</vt:lpstr>
      <vt:lpstr>Ubuntu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ELTON Oil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SunuPaie ELTON - Présentation CODIR Mai 2026</dc:title>
  <dc:subject>PptxGenJS Presentation</dc:subject>
  <dc:creator>Abdoulaye Dieng</dc:creator>
  <cp:lastModifiedBy>Abdoulaye DIENG</cp:lastModifiedBy>
  <cp:revision>3</cp:revision>
  <dcterms:created xsi:type="dcterms:W3CDTF">2026-05-04T22:10:27Z</dcterms:created>
  <dcterms:modified xsi:type="dcterms:W3CDTF">2026-05-06T20:54:59Z</dcterms:modified>
</cp:coreProperties>
</file>