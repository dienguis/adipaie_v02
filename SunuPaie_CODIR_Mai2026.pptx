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Hommes</c:v>
                </c:pt>
              </c:strCache>
            </c:strRef>
          </c:tx>
          <c:spPr>
            <a:solidFill>
              <a:srgbClr val="1A73B5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&lt;25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-12</c:v>
                </c:pt>
                <c:pt idx="1">
                  <c:v>-28</c:v>
                </c:pt>
                <c:pt idx="2">
                  <c:v>-42</c:v>
                </c:pt>
                <c:pt idx="3">
                  <c:v>-25</c:v>
                </c:pt>
                <c:pt idx="4">
                  <c:v>-8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F9-4F88-8E30-1302ACAD28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Femmes</c:v>
                </c:pt>
              </c:strCache>
            </c:strRef>
          </c:tx>
          <c:spPr>
            <a:solidFill>
              <a:srgbClr val="E5003D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&lt;25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</c:v>
                </c:pt>
                <c:pt idx="1">
                  <c:v>22</c:v>
                </c:pt>
                <c:pt idx="2">
                  <c:v>18</c:v>
                </c:pt>
                <c:pt idx="3">
                  <c:v>12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0F9-4F88-8E30-1302ACAD28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6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6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2260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40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SunuPaie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50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intégrée GRH-Paie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Présentation CODIR — Validation mise en production V1.0 / V1.1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206240"/>
            <a:ext cx="54864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3152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Mai 2026</a:t>
            </a:r>
            <a:r>
              <a:rPr lang="en-US" sz="1400" dirty="0">
                <a:solidFill>
                  <a:srgbClr val="E50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</a:t>
            </a:r>
            <a:r>
              <a:rPr lang="en-US" sz="14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Présenté par Abdoulaye DIENG</a:t>
            </a:r>
            <a:endParaRPr lang="en-US" sz="1400" dirty="0"/>
          </a:p>
        </p:txBody>
      </p:sp>
      <p:pic>
        <p:nvPicPr>
          <p:cNvPr id="1026" name="Image 1">
            <a:extLst>
              <a:ext uri="{FF2B5EF4-FFF2-40B4-BE49-F238E27FC236}">
                <a16:creationId xmlns:a16="http://schemas.microsoft.com/office/drawing/2014/main" id="{27C74B12-B3F8-E4C2-60F0-02BC01FDF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330" y="205740"/>
            <a:ext cx="711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Sommaire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 de la présentation (1h30 + Q&amp;A)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02920" cy="502920"/>
          </a:xfrm>
          <a:prstGeom prst="ellipse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0972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Contexte &amp; vue d'ensemble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3898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Pourquoi ce projet, périmètre, architecture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1188720"/>
            <a:ext cx="1188720" cy="41148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498080" y="1188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783080"/>
            <a:ext cx="502920" cy="502920"/>
          </a:xfrm>
          <a:prstGeom prst="ellipse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572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17373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Modules métier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0299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Paie, RH, Intérimaires, Imports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0" y="1828800"/>
            <a:ext cx="1188720" cy="41148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498080" y="18288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 min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423160"/>
            <a:ext cx="502920" cy="502920"/>
          </a:xfrm>
          <a:prstGeom prst="ellipse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572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88720" y="2377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Décisionnel &amp; Dashboards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2670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tableaux de bord RH analytiques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98080" y="2468880"/>
            <a:ext cx="1188720" cy="41148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498080" y="24688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 min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063240"/>
            <a:ext cx="502920" cy="502920"/>
          </a:xfrm>
          <a:prstGeom prst="ellipse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5720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188720" y="30175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Sécurité &amp; Conformité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33101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RBAC, audit, droit social Sénégal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98080" y="3108960"/>
            <a:ext cx="1188720" cy="41148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7498080" y="3108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min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703320"/>
            <a:ext cx="502920" cy="502920"/>
          </a:xfrm>
          <a:prstGeom prst="ellipse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5720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188720" y="3657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Statut livraison &amp; Bénéfices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88720" y="39502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V1.0, V1.1, gains chiffrés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98080" y="3749040"/>
            <a:ext cx="1188720" cy="41148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7498080" y="37490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min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343400"/>
            <a:ext cx="502920" cy="502920"/>
          </a:xfrm>
          <a:prstGeom prst="ellipse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5720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6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188720" y="4297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Mise en production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88720" y="45902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Plan, risques, roadmap, demande de validation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498080" y="4389120"/>
            <a:ext cx="1188720" cy="41148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7498080" y="4389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min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31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Contexte &amp; enjeux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Fafadie Paie en place — SunuPaie étend la couverture vers le RH complet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73152" cy="356616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📊  AUJOURD'HUI  —  Fafadie Paie en place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Fafadie Paie : génération et impression des bulletins OK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Calculs paie SN (IPRES, CSS, IR, TRIMF) maitrisés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MAIS aucune dimension RH élaborée :</a:t>
            </a:r>
            <a:endParaRPr lang="en-US" sz="10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 de gestion des contrats (CDI/CDD/Stage)</a:t>
            </a:r>
            <a:endParaRPr lang="en-US" sz="10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 de gestion congés / missions / formations / évaluations</a:t>
            </a:r>
            <a:endParaRPr lang="en-US" sz="10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 de gestion prêts / avances avec échéanciers</a:t>
            </a:r>
            <a:endParaRPr lang="en-US" sz="10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 de gestion intérimaires / mouvements</a:t>
            </a:r>
            <a:endParaRPr lang="en-US" sz="10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 de pilotage : aucun dashboard RH</a:t>
            </a:r>
            <a:endParaRPr lang="en-US" sz="10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 d'audit ni de traçabilité des actions sensibles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73152" cy="3566160"/>
          </a:xfrm>
          <a:prstGeom prst="rect">
            <a:avLst/>
          </a:prstGeom>
          <a:solidFill>
            <a:srgbClr val="02AD60"/>
          </a:solidFill>
          <a:ln w="12700">
            <a:solidFill>
              <a:srgbClr val="02AD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84632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AD60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🚀  DEMAIN  —  SunuPaie (extension Fafadie + RH complet)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Conserve l'acquis Fafadie : bulletins + déclarations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AJOUTE la dimension RH complète :</a:t>
            </a:r>
            <a:endParaRPr lang="en-US" sz="10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Salariés / Contrats / Avancements / Offboarding</a:t>
            </a:r>
            <a:endParaRPr lang="en-US" sz="10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Congés / Missions / Formations / Évaluations</a:t>
            </a:r>
            <a:endParaRPr lang="en-US" sz="10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Prêts &amp; avances avec échéanciers + heures sup</a:t>
            </a:r>
            <a:endParaRPr lang="en-US" sz="10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Intérimaires (Sites / Unités multi-affectation)</a:t>
            </a:r>
            <a:endParaRPr lang="en-US" sz="10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Disciplinaire (Code Travail SN) + STC légal</a:t>
            </a:r>
            <a:endParaRPr lang="en-US" sz="10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dashboards + audit complet + RBAC + espace salarié</a:t>
            </a:r>
            <a:endParaRPr lang="en-US" sz="10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Comptabilité (export auto bulletins → écritures)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31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Périmètre fonctionnel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grands modules · 90+ entités · 60+ écrans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73152" cy="530352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" y="9052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9052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Paie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46120" y="905256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Bulletins · Périodes · Déclarations IPRES/CSS/VRS/1024 · Livre L.120 · Prêts &amp; avances · Heures sup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435608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65760" y="1435608"/>
            <a:ext cx="73152" cy="530352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02920" y="147218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147218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RH cœur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1472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Salariés · Contrats CDI/CDD/Stage · Avancements · Disciplinaire · Offboarding &amp; STC · Dossiers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002536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65760" y="2002536"/>
            <a:ext cx="73152" cy="530352"/>
          </a:xfrm>
          <a:prstGeom prst="rect">
            <a:avLst/>
          </a:prstGeom>
          <a:solidFill>
            <a:srgbClr val="0F5288"/>
          </a:solidFill>
          <a:ln w="12700">
            <a:solidFill>
              <a:srgbClr val="0F52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02920" y="20391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20391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RH workflows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46120" y="2039112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Congés · Missions/déplacements · Formations · Évaluations annuelles · Demandes attestations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569464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65760" y="2569464"/>
            <a:ext cx="73152" cy="530352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02920" y="2606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👷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9728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Intérimaires V1.1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46120" y="260604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Sites (Stations/Siège/Dépôts) · Unités hiérarchiques · Multi-affectation · Mouvements · Sociétés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136392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65760" y="3136392"/>
            <a:ext cx="73152" cy="530352"/>
          </a:xfrm>
          <a:prstGeom prst="rect">
            <a:avLst/>
          </a:prstGeom>
          <a:solidFill>
            <a:srgbClr val="0F5288"/>
          </a:solidFill>
          <a:ln w="12700">
            <a:solidFill>
              <a:srgbClr val="0F52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02920" y="31729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97280" y="31729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Décisionnel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46120" y="3172968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dashboards RH analytiques · Exports Excel/PDF · Filtres dynamiques · Cache 5 min · Audit complet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70332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65760" y="3703320"/>
            <a:ext cx="73152" cy="530352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02920" y="3739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097280" y="37398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Comptabilité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246120" y="3739896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 comptable · Écritures auto depuis bulletins · Export comptable · Réconciliation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270248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365760" y="4270248"/>
            <a:ext cx="73152" cy="530352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502920" y="43068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097280" y="43068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Paramétrage &amp; Imports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246120" y="430682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Rubriques · Barèmes IR/TRIMF · Templates Word · SMTP/Graph · Imports Excel salariés/RIB/conjoints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31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Architecture macro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Stack technique et flux applicatif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097280"/>
            <a:ext cx="7315200" cy="64008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👥 Utilisateurs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0" y="10972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DG · DRH · DAF · Comptable · Manager · Salarié · Intérimaire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1828800"/>
            <a:ext cx="7315200" cy="64008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097280" y="1828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🌐 Présentation Web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18288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Blazor Server (DevExpress XAF 25.1) · Responsive · Accessible navigateur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2560320"/>
            <a:ext cx="7315200" cy="640080"/>
          </a:xfrm>
          <a:prstGeom prst="rect">
            <a:avLst/>
          </a:prstGeom>
          <a:solidFill>
            <a:srgbClr val="0F5288"/>
          </a:solidFill>
          <a:ln w="12700">
            <a:solidFill>
              <a:srgbClr val="0F5288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097280" y="2560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⚙️ Logique métier (Module)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25603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Services C# · Workflows · Calculs paie · DTO Dashboards · ImportServices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291840"/>
            <a:ext cx="7315200" cy="640080"/>
          </a:xfrm>
          <a:prstGeom prst="rect">
            <a:avLst/>
          </a:prstGeom>
          <a:solidFill>
            <a:srgbClr val="094069"/>
          </a:solidFill>
          <a:ln w="12700">
            <a:solidFill>
              <a:srgbClr val="094069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1097280" y="3291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💾 Persistance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40480" y="32918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 Server 2019+ via XPO ORM · 90+ entités · GCRecord soft-delete · Audit trail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737360"/>
            <a:ext cx="0" cy="91440"/>
          </a:xfrm>
          <a:prstGeom prst="line">
            <a:avLst/>
          </a:prstGeom>
          <a:noFill/>
          <a:ln w="38100">
            <a:solidFill>
              <a:srgbClr val="E5003D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572000" y="2468880"/>
            <a:ext cx="0" cy="91440"/>
          </a:xfrm>
          <a:prstGeom prst="line">
            <a:avLst/>
          </a:prstGeom>
          <a:noFill/>
          <a:ln w="38100">
            <a:solidFill>
              <a:srgbClr val="E5003D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572000" y="3200400"/>
            <a:ext cx="0" cy="91440"/>
          </a:xfrm>
          <a:prstGeom prst="line">
            <a:avLst/>
          </a:prstGeom>
          <a:noFill/>
          <a:ln w="38100">
            <a:solidFill>
              <a:srgbClr val="E5003D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91440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⚡ Performance : cache mémoire 5 min sur les KPI · TTL configurable · IDataProtector pour les secrets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31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40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L'application en chiffres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011680" cy="1600200"/>
          </a:xfrm>
          <a:prstGeom prst="rect">
            <a:avLst/>
          </a:prstGeom>
          <a:solidFill>
            <a:srgbClr val="0F5288"/>
          </a:solidFill>
          <a:ln w="254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90+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entités métier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Salariés, contrats, bulletins, congés…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51760" y="1188720"/>
            <a:ext cx="2011680" cy="1600200"/>
          </a:xfrm>
          <a:prstGeom prst="rect">
            <a:avLst/>
          </a:prstGeom>
          <a:solidFill>
            <a:srgbClr val="0F5288"/>
          </a:solidFill>
          <a:ln w="254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65176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60+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5176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écrans XAF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 + detail views configurés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2011680" cy="1600200"/>
          </a:xfrm>
          <a:prstGeom prst="rect">
            <a:avLst/>
          </a:prstGeom>
          <a:solidFill>
            <a:srgbClr val="0F5288"/>
          </a:solidFill>
          <a:ln w="254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84632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6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84632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dashboards RH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Analytiques avec exports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040880" y="1188720"/>
            <a:ext cx="2011680" cy="1600200"/>
          </a:xfrm>
          <a:prstGeom prst="rect">
            <a:avLst/>
          </a:prstGeom>
          <a:solidFill>
            <a:srgbClr val="0F5288"/>
          </a:solidFill>
          <a:ln w="254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04088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19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04088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pages d'aide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Step-by-step + cas d'usage ELTON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971800"/>
            <a:ext cx="2011680" cy="1600200"/>
          </a:xfrm>
          <a:prstGeom prst="rect">
            <a:avLst/>
          </a:prstGeom>
          <a:solidFill>
            <a:srgbClr val="0F5288"/>
          </a:solidFill>
          <a:ln w="254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3063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200+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5720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permissions RBAC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rôles · granulaire par entité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51760" y="2971800"/>
            <a:ext cx="2011680" cy="1600200"/>
          </a:xfrm>
          <a:prstGeom prst="rect">
            <a:avLst/>
          </a:prstGeom>
          <a:solidFill>
            <a:srgbClr val="0F5288"/>
          </a:solidFill>
          <a:ln w="254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651760" y="3063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5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265176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workflows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43200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Congés · Missions · Formations · Évaluations · Avancements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2971800"/>
            <a:ext cx="2011680" cy="1600200"/>
          </a:xfrm>
          <a:prstGeom prst="rect">
            <a:avLst/>
          </a:prstGeom>
          <a:solidFill>
            <a:srgbClr val="0F5288"/>
          </a:solidFill>
          <a:ln w="254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846320" y="3063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4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484632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déclarations sociales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IPRES · CSS · VRS · État 1024 (DGID)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40880" y="2971800"/>
            <a:ext cx="2011680" cy="1600200"/>
          </a:xfrm>
          <a:prstGeom prst="rect">
            <a:avLst/>
          </a:prstGeom>
          <a:solidFill>
            <a:srgbClr val="0F5288"/>
          </a:solidFill>
          <a:ln w="254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7040880" y="3063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100%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704088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actions tracées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132320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Journal d'audit immutable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31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Module Paie · Cycle mensuel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Bulletins, périodes, déclarations sociales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28016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Période ouverte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37360" y="1097280"/>
            <a:ext cx="91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5003D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28800" y="1097280"/>
            <a:ext cx="128016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828800" y="1143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Bulletins générés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08960" y="1097280"/>
            <a:ext cx="91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5003D"/>
                </a:solidFill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0" y="1097280"/>
            <a:ext cx="128016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200400" y="1143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0040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Recalcul cotisations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80560" y="1097280"/>
            <a:ext cx="91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5003D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0" y="1097280"/>
            <a:ext cx="128016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572000" y="1143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52160" y="1097280"/>
            <a:ext cx="91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5003D"/>
                </a:solidFill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0" y="1097280"/>
            <a:ext cx="128016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943600" y="1143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94360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PDF + Email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23760" y="1097280"/>
            <a:ext cx="91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5003D"/>
                </a:solidFill>
              </a:rPr>
              <a:t>▶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200" y="1097280"/>
            <a:ext cx="128016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315200" y="1143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1520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Clôture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2194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📋 Calculs intégrés (droit social Sénégal)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251460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IPRES RG (5,60% / 8,40% — plafond 432 000)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IPRES RC cadres (2,40% / 3,60% — plafond 1 296 000)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CSS AT (Accident travail variable)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CSS AF (Allocation familiale variable)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IR progressif (DGID) avec abattement 30% / 900 000 FCFA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TRIMF mensuel + annuel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CFCE (base brut fiscal)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2194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📊 Déclarations exportables (Excel)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54880" y="251460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Bordereau IPRES (mensuel)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Bordereau CSS (mensuel)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État VRS — Versement Retenue à la Source (DGID, mensuel)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Déclaration 1024 (DGID, annuelle)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Livre de Paie obligatoire (art. L.120, conservation 5 ans)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PDF bulletin individuel + envoi email automatique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Génération en masse 200+ bulletins en 1 clic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31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Module Paie · Fonctionnalités avancées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Prêts, heures sup, régularisations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2697480" cy="54864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1097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Prêts &amp; avances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783080"/>
            <a:ext cx="2423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Échéancier auto (principal constant ou annuité)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Taux annuel configurable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Retenue auto sur bulletin chaque mois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Suspension / reprise / clôture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Avance ponctuelle = taux 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46120" y="1097280"/>
            <a:ext cx="2697480" cy="5486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38328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86200" y="1097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Heures supplémentaires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1783080"/>
            <a:ext cx="2423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Activable via Paramètres de paie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taux légaux SN (15/40/60/100%)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Calcul auto à partir du SB / 173,33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Intégrées au Brut Fiscal &amp; Social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Cotisations recalculées avec HS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126480" y="1097280"/>
            <a:ext cx="2697480" cy="548640"/>
          </a:xfrm>
          <a:prstGeom prst="rect">
            <a:avLst/>
          </a:prstGeom>
          <a:solidFill>
            <a:srgbClr val="0F5288"/>
          </a:solidFill>
          <a:ln w="12700">
            <a:solidFill>
              <a:srgbClr val="0F52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26364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66560" y="1097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Régularisations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1783080"/>
            <a:ext cx="2423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Cumul annuel IR / TRIMF / IPRES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Régul fin d'année automatique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Régul mois de départ (offboarding)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Réduction familiale par parts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Simulation avant validation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31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Module RH · Gestion du personnel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Salariés, contrats, dossiers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160520" cy="45720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0515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Fiches salariés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60020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Identité complète · Contact urgence · Pièces d'identité (CNI, passeport, IPRES) · Famille (conjoints, enfants) · Comptes bancaires multi-RIB · Pièces jointes scannées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05156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572000" y="1051560"/>
            <a:ext cx="4160520" cy="45720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70916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20640" y="10515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Contrats de travail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60020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CDI / CDD / Stage · Période d'essai · Avenants · Templates Word personnalisables · Génération PDF auto · Historique tous les contrats du salarié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4160520" cy="457200"/>
          </a:xfrm>
          <a:prstGeom prst="rect">
            <a:avLst/>
          </a:prstGeom>
          <a:solidFill>
            <a:srgbClr val="0F5288"/>
          </a:solidFill>
          <a:ln w="12700">
            <a:solidFill>
              <a:srgbClr val="0F52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0292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📁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2926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Dossiers salariés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47472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Centralisation pièces RH · Type document configurable · Stockage chiffré · Recherche full-text · Permissions par rôle · Audit consultations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29260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572000" y="2926080"/>
            <a:ext cx="4160520" cy="457200"/>
          </a:xfrm>
          <a:prstGeom prst="rect">
            <a:avLst/>
          </a:prstGeom>
          <a:solidFill>
            <a:srgbClr val="094069"/>
          </a:solidFill>
          <a:ln w="12700">
            <a:solidFill>
              <a:srgbClr val="0940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70916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20640" y="2926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Avancements &amp; promotions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347472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 complet : Salarié → N+1 → N+2 → DAF → RH applique · Changement échelon / fonction / catégorie · Date d'effet auto sur bulletins futurs · Historique tracé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/ 31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Module RH · Workflows opérationnels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Congés · Missions · Formations · Évaluations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73152" cy="82296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🏖️ Congés &amp; absences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E50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Salarié → N+1 → N+2 → RH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12080" y="10972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familles : Annuel, Maladie, Maternité, Événement, Sans solde, Récup · Soldes auto · Justificatifs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96596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65760" y="1965960"/>
            <a:ext cx="73152" cy="82296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4864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✈️ Missions &amp; déplacements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E50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Salarié → N+1 → Asst.RH → RH → DAF → Comptable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0" y="20116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Frais prévisionnels vs réels · État de frais PDF · Google Maps distances · Templates ordres mission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73152" cy="82296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4864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🎓 Formations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E50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RH → Plan annuel → Sessions → Inscriptions → Présences → Attestations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12080" y="29260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Évaluation à froid J+30 / J+90 · Capacité, liste d'attente · Certificats PDF · Bilan annuel par axe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79476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65760" y="3794760"/>
            <a:ext cx="73152" cy="82296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4864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📝 Évaluations annuelles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E50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RH (campagne) → N+1 (notes) → Salarié (auto-éval) → N+2 → RH (clôture)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1208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Grille critères pondérés · Score global auto · Objectifs SMART N+1 · Signature électronique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/ 31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Module RH · Vie du contrat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Disciplinaire &amp; Offboarding (STC)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114800" cy="54864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⚖️  Procédure disciplinaire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Conforme Code du Travail Sénégal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05740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Ouverture dossier (faute Simple/Grave/Lourde)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Notification écrite au salarié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Audition contradictoire (obligatoire)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PV d'audition documenté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Sanction motivée (max 8j mise à pied)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6. Clôture &amp; archivage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114800" cy="5486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800600" y="10972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👋  Offboarding &amp; STC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Solde de tout compte calculé selon droit SN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205740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Indemnité congés non pris (× SB / 26)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Indemnité préavis (si licenciement / RC)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Indemnité licenciement (paliers 25/30/40%)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Prorata salarial du mois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 RH → DAF → Clôture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Désactivation salarié + DateSortie auto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 / 31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Module Intérimaires V1.1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Refonte modèle hiérarchique (mai 2026)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Modèle V1.1 — Hiérarchie organisationnelle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463040"/>
            <a:ext cx="7315200" cy="50292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005840" y="1463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📍  SITE  (TypeSite enum)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1463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🏪 Station service · 🏢 Siège · 📦 Dépôt · 📍 Autre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2194560"/>
            <a:ext cx="6400800" cy="502920"/>
          </a:xfrm>
          <a:prstGeom prst="rect">
            <a:avLst/>
          </a:prstGeom>
          <a:solidFill>
            <a:srgbClr val="0F5288"/>
          </a:solidFill>
          <a:ln w="12700">
            <a:solidFill>
              <a:srgbClr val="0F52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463040" y="219456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🏛️  UNITÉ ORGANISATIONNELLE  (récursive Parent/Enfants)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71600" y="2926080"/>
            <a:ext cx="1645920" cy="77724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371600" y="29260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🔵 BU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(stations)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08960" y="2926080"/>
            <a:ext cx="164592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108960" y="29260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🟢 Département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(Siège)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926080"/>
            <a:ext cx="1645920" cy="777240"/>
          </a:xfrm>
          <a:prstGeom prst="rect">
            <a:avLst/>
          </a:prstGeom>
          <a:solidFill>
            <a:srgbClr val="0F5288"/>
          </a:solidFill>
          <a:ln w="12700">
            <a:solidFill>
              <a:srgbClr val="0F52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846320" y="29260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🟡 Segment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(commercial)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2926080"/>
            <a:ext cx="1645920" cy="777240"/>
          </a:xfrm>
          <a:prstGeom prst="rect">
            <a:avLst/>
          </a:prstGeom>
          <a:solidFill>
            <a:srgbClr val="094069"/>
          </a:solidFill>
          <a:ln w="12700">
            <a:solidFill>
              <a:srgbClr val="0940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583680" y="29260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⚪ Autre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023360"/>
            <a:ext cx="8412480" cy="640080"/>
          </a:xfrm>
          <a:prstGeom prst="rect">
            <a:avLst/>
          </a:prstGeom>
          <a:solidFill>
            <a:srgbClr val="FFD4D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0292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✨ Multi-affectation N-N : </a:t>
            </a: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intérimaire peut être affecté à PLUSIEURS unités simultanément (sans % de temps). </a:t>
            </a:r>
            <a:r>
              <a:rPr lang="en-US" sz="1100" i="1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Mouvements traçables entre sites.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/ 31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Imports en masse Excel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Migration et mises à jour rapides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Workflow d'import (idempotent · zéro doublon)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155448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📥 Télécharger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modèle Excel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146304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5003D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94560" y="1463040"/>
            <a:ext cx="155448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194560" y="14630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✏️ Remplir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données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49040" y="146304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5003D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931920" y="1463040"/>
            <a:ext cx="155448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931920" y="14630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📤 Importer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.xlsx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0" y="146304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5003D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69280" y="1463040"/>
            <a:ext cx="155448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669280" y="14630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✅ Validation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23760" y="146304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5003D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406640" y="1463040"/>
            <a:ext cx="155448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7406640" y="14630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📊 Rapport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 créés / y ignorés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60604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65760" y="2606040"/>
            <a:ext cx="2697480" cy="45720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0292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👥 Salariés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320040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Matricule · Nom/Prénom · État civil · CNI · Échelon · SB/Logt · Département · Fonction · Email/Tel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260604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246120" y="2606040"/>
            <a:ext cx="2697480" cy="45720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38328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👫 Conjoints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29000" y="320040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Polygamie supportée · DateMariage · DateFinUnion · Statut Actif/Inactif · Impact parts fiscales auto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60604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6126480" y="2606040"/>
            <a:ext cx="2697480" cy="457200"/>
          </a:xfrm>
          <a:prstGeom prst="rect">
            <a:avLst/>
          </a:prstGeom>
          <a:solidFill>
            <a:srgbClr val="0F5288"/>
          </a:solidFill>
          <a:ln w="12700">
            <a:solidFill>
              <a:srgbClr val="0F52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26364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🏦 Comptes bancaires (RIB)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09360" y="320040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Multi-comptes · Modes Reliquat / MontantFixe / Pourcentage · Validation 100% · BIC/SWIFT optionnel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 / 31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Module Comptabilité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Génération automatique des écritures depuis la paie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55448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📄 Bulletin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validé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109728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5003D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94560" y="1097280"/>
            <a:ext cx="155448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194560" y="10972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🔄 Génération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49040" y="109728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5003D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931920" y="1097280"/>
            <a:ext cx="155448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931920" y="10972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📒 Écritures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comptables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0" y="109728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5003D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669280" y="1097280"/>
            <a:ext cx="155448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669280" y="10972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📊 Plan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comptable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223760" y="109728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5003D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406640" y="1097280"/>
            <a:ext cx="155448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7406640" y="10972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📤 Export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logiciel compta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194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📒 Plan comptable &amp; Écritures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251460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 comptable OHADA / SYSCOHADA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Comptes paramétrables par rubrique de paie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Mapping automatique : RubriqueCompte / Override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Génération écritures à la validation bulletin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Numérotation continue par exercice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Réconciliation cumul mensuel / annuel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Soft-delete (GCRecord) pour audit conformité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194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📤 Exports comptables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251460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Export Excel par période (toutes écritures)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Export par lot (batch périodes / compte)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 compatible JDE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Génération en masse avec compteur d'erreurs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Audit : qui a exporté quoi quand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Rejeu possible si erreur détectée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Permissions DAF/Comptable séparées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 / 31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Espace Salarié &amp; Alertes RH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Self-service collaborateurs + notifications automatiques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114800" cy="5486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👤  Espace Salarié (self-service)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Chaque salarié accède à ses données 24/7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05740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 bulletins de paie (téléchargement PDF chiffré)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 congés (demande, soldes, historique)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 déplacements (saisie + frais réels)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 attestations (travail, salaire, congés)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 entretien annuel (auto-évaluation)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 formations (inscription, attestations)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 documents personnels (sécurisé)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114800" cy="54864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800600" y="10972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🔔  Alertes &amp; Notifications RH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Hosted services .NET tournant en arrière-plan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205740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Attestation en attente RH &gt; N jours (relance auto)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Dossier intérimaire approchant l'expiration (CNI/contrat)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Évaluation à froid formation (J+30 puis J+90)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Alertes intérimaires (fin de mission proche)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Notifications XAF par module (workflow)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Configuration heure d'envoi + emails RH dans Paramètres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le pilotage exécutif → 6 dashboards RH (cf. § Décisionnel)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 / 31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Paramétrage &amp; Référentiels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Tout ce qui rend l'app adaptable sans redéploiement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160520" cy="45720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0515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Rubriques &amp; Barèmes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60020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Rubriques paie (canonique, taux salarial/patronal) · Barèmes IR/TRIMF mis à jour annuellement (lois finances) · Réduction familiale par parts · Cotisations IPRES/CSS configurables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05156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572000" y="1051560"/>
            <a:ext cx="4160520" cy="45720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70916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20640" y="10515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Structure organisationnelle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60020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Sites + TypeSite (Station/Siège/Dépôt) · Unités hiérarchiques · Départements · Fonctions · Échelons · Catégories · Conventions collectives · Villes Sénégal référentiel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4160520" cy="457200"/>
          </a:xfrm>
          <a:prstGeom prst="rect">
            <a:avLst/>
          </a:prstGeom>
          <a:solidFill>
            <a:srgbClr val="0F5288"/>
          </a:solidFill>
          <a:ln w="12700">
            <a:solidFill>
              <a:srgbClr val="0F52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0292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2926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Templates Word (.docx)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47472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Attestations (travail, salaire, congés) · Certificats emploi · Cessation paiement · Ordres de mission · État de frais · Contrats CDI/CDD/Stage · Entretien annuel · Bilan social · Variables {{...}} dynamiques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29260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572000" y="2926080"/>
            <a:ext cx="4160520" cy="457200"/>
          </a:xfrm>
          <a:prstGeom prst="rect">
            <a:avLst/>
          </a:prstGeom>
          <a:solidFill>
            <a:srgbClr val="094069"/>
          </a:solidFill>
          <a:ln w="12700">
            <a:solidFill>
              <a:srgbClr val="0940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70916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20640" y="2926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Communication &amp; Intégrations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347472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SMTP / Microsoft Graph (Office 365) · Test email intégré · Adresses RH / DAF / Comptable configurables · Google Maps API (distances missions) · GeoNames (villes) · Power BI embedding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 / 31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Tableaux de bord RH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dashboards analytiques pour le pilotage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73152" cy="114300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28016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1. Effectif détaillé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1508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Pyramide des âges × catégorie pro · Distinction H/F · Évolution 3 ans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05156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572000" y="1051560"/>
            <a:ext cx="73152" cy="114300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754880" y="114300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48640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2. Analyse Effectif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1508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Effectif global/moyen · Évolution 8 ans · Turnover · Démographie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28600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65760" y="2286000"/>
            <a:ext cx="73152" cy="114300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48640" y="237744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28016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3. Mouvements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2743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Arrivées / Départs · Par mois, motif, site, catégorie · Solde net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28600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572000" y="2286000"/>
            <a:ext cx="73152" cy="114300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754880" y="237744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48640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4. Rémunération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2743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Masse salariale · Coût employeur · Égalité H/F segment &amp; catégorie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52044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65760" y="3520440"/>
            <a:ext cx="73152" cy="114300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48640" y="361188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🏖️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128016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5. Suivi Absences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80160" y="3977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Taux d'absentéisme · Top 10 absents · Famille de congé · Évolution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352044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4572000" y="3520440"/>
            <a:ext cx="73152" cy="114300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754880" y="361188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548640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6. Bilan Social Mensuel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0" y="3977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mois × 8 indicateurs DTSS · Synthèse annuelle · Charges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 / 31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Dashboard exemple — Effectif détaillé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Pyramide des âges Hommes/Femmes × catégorie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097280"/>
          <a:ext cx="59436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492240" y="1097280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6492240" y="1097280"/>
            <a:ext cx="73152" cy="77724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6629400" y="1143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Effectif total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629400" y="13441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247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629400" y="16642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actifs au 31/12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492240" y="1947672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6492240" y="1947672"/>
            <a:ext cx="73152" cy="77724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6629400" y="19933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Âge moyen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629400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38 ans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629400" y="25146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Hommes 39 · Femmes 35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492240" y="2798064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6492240" y="2798064"/>
            <a:ext cx="73152" cy="77724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6629400" y="28437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% Femmes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629400" y="30449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26%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629400" y="336499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+ 3 pts vs 2025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492240" y="3648456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0"/>
          <p:cNvSpPr/>
          <p:nvPr/>
        </p:nvSpPr>
        <p:spPr>
          <a:xfrm>
            <a:off x="6492240" y="3648456"/>
            <a:ext cx="73152" cy="77724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6629400" y="36941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Ancienneté moy.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629400" y="389534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7,2 ans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629400" y="421538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stable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 / 31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Exports &amp; actions sur dashboards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Excel, PDF, refresh, aide intégrée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960120" y="1280160"/>
            <a:ext cx="640080" cy="640080"/>
          </a:xfrm>
          <a:prstGeom prst="ellipse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6012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Export Excel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Onglet Synthèse + détaillés · DataBars colorés · Prêt copier-coller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109728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00400" y="1280160"/>
            <a:ext cx="640080" cy="640080"/>
          </a:xfrm>
          <a:prstGeom prst="ellipse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20040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0604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Export PDF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2331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A4 paysage · En-tête ELTON · 1 page imprimable · QuestPDF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109728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5440680" y="1280160"/>
            <a:ext cx="640080" cy="640080"/>
          </a:xfrm>
          <a:prstGeom prst="ellipse">
            <a:avLst/>
          </a:prstGeom>
          <a:solidFill>
            <a:srgbClr val="0F5288"/>
          </a:solidFill>
          <a:ln w="12700">
            <a:solidFill>
              <a:srgbClr val="0F52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44068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↻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4632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Refresh manuel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331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Vide le cache TTL 5 min · Recharge depuis BDD · Bouton header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86600" y="109728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7680960" y="1280160"/>
            <a:ext cx="640080" cy="640080"/>
          </a:xfrm>
          <a:prstGeom prst="ellipse">
            <a:avLst/>
          </a:prstGeom>
          <a:solidFill>
            <a:srgbClr val="094069"/>
          </a:solidFill>
          <a:ln w="12700">
            <a:solidFill>
              <a:srgbClr val="0940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68096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8660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Aide intégrée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78040" y="2331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Page HTML dédiée par dashboard · Cas d'usage · Glossaire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200400"/>
            <a:ext cx="8412480" cy="137160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4864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🎯  Cas d'usage CODIR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3657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Lundi matin : </a:t>
            </a:r>
            <a:r>
              <a:rPr lang="en-US" sz="11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DG ouvre le Bilan Social Mensuel → 12 mois × 8 indicateurs en 3 secondes.   </a:t>
            </a: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Préparation Comité d'entreprise : </a:t>
            </a:r>
            <a:r>
              <a:rPr lang="en-US" sz="11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export Excel Synthèse → coller dans Word → Powerpoint.   </a:t>
            </a: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Audit DTSS : </a:t>
            </a:r>
            <a:r>
              <a:rPr lang="en-US" sz="11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PDF prêt à imprimer avec en-tête conforme.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 / 31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Sécurité · RBAC 4 rôles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Contrôle d'accès basé sur les rôles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27432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Rôle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Bulletins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Salariés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Dashboards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Paramètres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Audit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Administrators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2AD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✅ CRUD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2AD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✅ CRUD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2AD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✅ Tous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2AD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✅ Tous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2AD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✅ Lecture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RH_Manager (DG/COMEX)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5288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👁 Lecture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5288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👁 Lecture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2AD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✅ Tous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C667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—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5288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👁 Lecture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RH (équipe RH)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2AD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✅ CRUD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2AD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✅ CRUD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2AD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✅ Tous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5288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👁 Lecture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C667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—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DAF (direction fin.)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5288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👁 Lecture + Validation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5288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👁 Lecture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2AD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✅ Tous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C667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—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5288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👁 Lecture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5C667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Default / Comptable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5003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Aucun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5003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Aucun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5003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Aucun (redirige login)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5003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Aucun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5003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Aucun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023360"/>
            <a:ext cx="8412480" cy="640080"/>
          </a:xfrm>
          <a:prstGeom prst="rect">
            <a:avLst/>
          </a:prstGeom>
          <a:solidFill>
            <a:srgbClr val="FFD4D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0292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🔒 Sécurité XAF native : </a:t>
            </a: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permissions granulaires par entité × action × propriété. </a:t>
            </a:r>
            <a:r>
              <a:rPr lang="en-US" sz="1000" i="1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Authentification ASP.NET Identity + Cookies HTTPS only. Lockout après 5 tentatives.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 / 31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Audit &amp; traçabilité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Toutes les actions sensibles tracées (immutable)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286000" cy="1188720"/>
          </a:xfrm>
          <a:prstGeom prst="rect">
            <a:avLst/>
          </a:prstGeom>
          <a:solidFill>
            <a:srgbClr val="0F5288"/>
          </a:solidFill>
          <a:ln w="12700">
            <a:solidFill>
              <a:srgbClr val="0F52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🎬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Action métier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109728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5003D"/>
                </a:solidFill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286000" cy="1188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91840" y="10972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⚙️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Capture auto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(transparente)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77840" y="109728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5003D"/>
                </a:solidFill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560320" cy="118872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126480" y="10972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🔒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Journal d'audit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(lecture seule)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📋 Informations enregistrées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71800"/>
          <a:ext cx="8412480" cy="19507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Date / heure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17/04/2026 14:32:08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Utilisateur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Abdoulaye DIENG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Entité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Bulletin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Action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Valider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Objet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DIOP Moussa — 04/2026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Ancien statut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Brouillon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Nouveau statut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Validé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Détails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Net à payer : 385 000 FCFA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 / 31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Conformité droit social Sénégal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 Travail + IPRES + CSS + DGID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160520" cy="41148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0972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Code du Travail SN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600200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Article L.120 — Livre paie 5 ans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Audition contradictoire disciplinaire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Mise à pied max 8 jours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Préavis selon ancienneté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Indemnités licenciement (paliers 25/30/40%)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572000" y="1097280"/>
            <a:ext cx="4160520" cy="41148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70916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🏛️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0640" y="10972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Cotisations IPRES + CSS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600200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IPRES RG : 5,60% / 8,40% (plafond 432K)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IPRES RC cadres : 2,40% / 3,60% (plafond 1,296M)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CSS AT (variable selon risque)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CSS AF (variable)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Bordereaux mensuels exportés Excel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4160520" cy="411480"/>
          </a:xfrm>
          <a:prstGeom prst="rect">
            <a:avLst/>
          </a:prstGeom>
          <a:solidFill>
            <a:srgbClr val="0F5288"/>
          </a:solidFill>
          <a:ln w="12700">
            <a:solidFill>
              <a:srgbClr val="0F52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0292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2971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DGID — Fiscalité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474720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IR progressif (avec abattement 30% / 900K)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TRIMF mensuel + annuel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CFCE (base brut fiscal)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État VRS mensuel exportable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Déclaration 1024 annuelle (DGID)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297180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572000" y="2971800"/>
            <a:ext cx="4160520" cy="411480"/>
          </a:xfrm>
          <a:prstGeom prst="rect">
            <a:avLst/>
          </a:prstGeom>
          <a:solidFill>
            <a:srgbClr val="094069"/>
          </a:solidFill>
          <a:ln w="12700">
            <a:solidFill>
              <a:srgbClr val="0940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70916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20640" y="2971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Sécurité &amp; RGPD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3474720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Mot de passe SQL chiffré (DPAPI)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HTTPS obligatoire (cookies secure)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Lockout après 5 tentatives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Conservation entretiens : durée contrat + 5 ans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Logs audit immutables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22 / 31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Statut livraison · V1.0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Tableaux de Bord RH (mai 2026)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AD60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✅  V1.0 LIVRÉE — Module décisionnel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41605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73152" cy="3017520"/>
          </a:xfrm>
          <a:prstGeom prst="rect">
            <a:avLst/>
          </a:prstGeom>
          <a:solidFill>
            <a:srgbClr val="02AD60"/>
          </a:solidFill>
          <a:ln w="12700">
            <a:solidFill>
              <a:srgbClr val="02AD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6 Dashboards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Effectif détaillé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Analyse Effectif (8 ans glissants)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Mouvements (arrivées/départs)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Rémunération (égalité H/F)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Suivi Absences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Bilan Social Mensuel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554480"/>
            <a:ext cx="41605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572000" y="1554480"/>
            <a:ext cx="73152" cy="3017520"/>
          </a:xfrm>
          <a:prstGeom prst="rect">
            <a:avLst/>
          </a:prstGeom>
          <a:solidFill>
            <a:srgbClr val="02AD60"/>
          </a:solidFill>
          <a:ln w="12700">
            <a:solidFill>
              <a:srgbClr val="02AD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754880" y="1691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210312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RBAC 4 rôles (Admin / RH_Manager / RH / DAF)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Cache mémoire 5 min (TTL configurable)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Exports Excel (ClosedXML) + PDF (QuestPDF)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Pages d'aide HTML par dashboard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Charte ELTON Navy/Orange/Rouge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6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final V1.0 : 8680d001 · Tagué v1.0-dashboards-rh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 / 31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Statut livraison · V1.1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Refonte Intérim + sécurité + finitions UI (mai 2026)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AD60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✅  V1.1 LIVRÉE — 6 Sprints en 1 mois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731520" cy="50292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1A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Modèle V1.1 enrichi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15544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Site + TypeSite enum (StationService/Siege/Depot/Autre) · UniteOrganisationnelle récursive · ContratInterim multi-affectation N-N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0" y="155448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E50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4ec43373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205740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65760" y="2057400"/>
            <a:ext cx="731520" cy="50292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65760" y="20574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1B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Seed démo + Wipe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21031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sites + 19 unités + 25 intérimaires + ~40 contrats + 10 mouvements (préfixe DEMO_) · Bouton XAF wipe sécurisé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955280" y="210312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E50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consolidé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260604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65760" y="2606040"/>
            <a:ext cx="731520" cy="50292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65760" y="26060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1C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2651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Refonte 4 services dashboards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66160" y="26517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Filtres en cascade Site → Unité · % Renouvellement plafonné 100% · Filtre Site sur contrats EXTERNE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0" y="265176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E50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515b2531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315468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65760" y="3154680"/>
            <a:ext cx="731520" cy="50292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65760" y="31546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1D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3200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Masquage entités legacy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66160" y="32004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StationService/BU [Deprecated] · FK [Legacy] sur ContratInterim/Mouvement · Pas de seed BUType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55280" y="320040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E50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082da74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5760" y="370332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65760" y="3703320"/>
            <a:ext cx="731520" cy="50292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65760" y="37033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1E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88720" y="3749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Refonte SQL + docs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566160" y="37490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03_mouvements + 04_remuneration refondus Site V1.1 · README V1.1 · MISSION_STATE clôturée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955280" y="374904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E50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e71bd8f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5760" y="425196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365760" y="4251960"/>
            <a:ext cx="731520" cy="50292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365760" y="42519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Help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188720" y="4297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Refonte 19 pages d'aide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566160" y="42976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 step-by-step · Cas d'usage ELTON concrets · FAQ · CSS partagé · Nav 2-tier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955280" y="429768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E50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e2806c2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 / 31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940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Bénéfices attendus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Estimations fondées sur les pratiques sectorielles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69080" cy="1508760"/>
          </a:xfrm>
          <a:prstGeom prst="rect">
            <a:avLst/>
          </a:prstGeom>
          <a:solidFill>
            <a:srgbClr val="0F5288"/>
          </a:solidFill>
          <a:ln w="254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−70%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240280" y="1645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Temps de paie mensuelle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40280" y="2103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4 jours à 1 jour pour 200 bulletins · Génération en masse · Export auto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1463040"/>
            <a:ext cx="4069080" cy="1508760"/>
          </a:xfrm>
          <a:prstGeom prst="rect">
            <a:avLst/>
          </a:prstGeom>
          <a:solidFill>
            <a:srgbClr val="0F5288"/>
          </a:solidFill>
          <a:ln w="254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800600" y="160020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100%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Conformité légale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103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 Travail SN · Livre paie L.120 · Cotisations à jour · Audit DTSS prêt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4069080" cy="1508760"/>
          </a:xfrm>
          <a:prstGeom prst="rect">
            <a:avLst/>
          </a:prstGeom>
          <a:solidFill>
            <a:srgbClr val="0F5288"/>
          </a:solidFill>
          <a:ln w="254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40080" y="32461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+95%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2240280" y="3291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Traçabilité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40280" y="3749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Toutes actions tracées · Qui/quand/quoi · Lecture seule audit · Reporting préparé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3108960"/>
            <a:ext cx="4069080" cy="1508760"/>
          </a:xfrm>
          <a:prstGeom prst="rect">
            <a:avLst/>
          </a:prstGeom>
          <a:solidFill>
            <a:srgbClr val="0F5288"/>
          </a:solidFill>
          <a:ln w="254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800600" y="32461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x10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400800" y="3291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Capacité de pilotage RH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3749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dashboards en temps réel · Exports prêts COMEX · Alertes seuils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 / 31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Plan de mise en production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Stratégie de bascule en 4 phases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731520" cy="841248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731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3444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Préparation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50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Semaine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0" y="10972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Migration dbconfig %ProgramData% · Création comptes utilisateurs (RBAC) · Import salariés via Excel · Formation utilisateurs clés (4h × 2 sessions)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938528"/>
            <a:ext cx="8412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65760" y="1938528"/>
            <a:ext cx="731520" cy="841248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65760" y="1938528"/>
            <a:ext cx="731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234440" y="1984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Pilote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3500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50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Semaine 2-3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198424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Bascule équipe RH (5 personnes) · Génération bulletins parallèle Excel + SunuPaie · Comparaison résultats · Ajustements paramètres rubriques / barèmes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825496"/>
            <a:ext cx="8412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65760" y="2825496"/>
            <a:ext cx="731520" cy="841248"/>
          </a:xfrm>
          <a:prstGeom prst="rect">
            <a:avLst/>
          </a:prstGeom>
          <a:solidFill>
            <a:srgbClr val="0F5288"/>
          </a:solidFill>
          <a:ln w="12700">
            <a:solidFill>
              <a:srgbClr val="0F52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65760" y="2825496"/>
            <a:ext cx="731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234440" y="2871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Déploiement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2369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50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Semaine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2871216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Bascule 100% équipe RH + DAF · Communication tous salariés (espace salarié) · Activation workflows congés/missions · Désactivation seed démo (DEMO_*)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712464"/>
            <a:ext cx="8412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65760" y="3712464"/>
            <a:ext cx="731520" cy="841248"/>
          </a:xfrm>
          <a:prstGeom prst="rect">
            <a:avLst/>
          </a:prstGeom>
          <a:solidFill>
            <a:srgbClr val="02AD60"/>
          </a:solidFill>
          <a:ln w="12700">
            <a:solidFill>
              <a:srgbClr val="02AD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65760" y="3712464"/>
            <a:ext cx="731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234440" y="37581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Stabilisation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34440" y="41239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50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Mois 2-3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0" y="3758184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Suivi quotidien KPI dashboards · Hotfixes mineurs si besoin · Onboarding nouveaux utilisateurs · Bilan post-bascule + ROI mesuré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26 / 31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Risques &amp; mitigations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Anticipation des points critiques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🔴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FAIBLE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83080" y="1143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Résistance au changement (équipe RH habituée Excel)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4920" y="1143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8h + accompagnement 2 sem · Pages d'aide step-by-step · Pilote sur volontaires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69164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7724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MOYEN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83080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Erreur de calcul cotisations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492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Validation parallèle 1 mois (Excel vs SunuPaie) · Comparaison montant à montant · 245 bulletins testés en démo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28600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657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2331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MOYEN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8308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Indisponibilité serveur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7492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Sauvegardes BDD quotidiennes · Plan de bascule manuel documenté · SLA serveur ELTON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88036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6576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🟢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77240" y="2926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MAÎTRISÉ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783080" y="2926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Faille sécurité / fuite données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74920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RBAC granulaire · Mot de passe SQL chiffré DPAPI · Audit complet · HTTPS · Lockout 5 essais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47472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6576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🟢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77240" y="3520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MAÎTRISÉ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783080" y="3520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Évolution réglementaire (cotisations, IR)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74920" y="3520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Barèmes IR/TRIMF dans paramètres · Mise à jour sans redéploiement · Versioning historique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406908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3657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🟢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77240" y="4114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MAÎTRISÉ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783080" y="4114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Volume données (croissance)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74920" y="4114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Cache mémoire 5 min · Export CSV bulk · Optionnel : passage Redis si &gt; 100 users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27 / 31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Roadmap Phase 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Évolutions futures (post mise en production)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737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737360" cy="82296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Q3 2026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Stabilisation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057400"/>
            <a:ext cx="1554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Hotfixes V1.1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Optimisations performance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Onboarding élargi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1097280"/>
            <a:ext cx="1737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743200" y="1097280"/>
            <a:ext cx="1737360" cy="8229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743200" y="1143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Q4 2026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43200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&amp; UX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80360" y="2057400"/>
            <a:ext cx="1554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Application mobile salariés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Bulletins push notif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 mobile DG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0" y="1097280"/>
            <a:ext cx="1737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5029200" y="1097280"/>
            <a:ext cx="1737360" cy="822960"/>
          </a:xfrm>
          <a:prstGeom prst="rect">
            <a:avLst/>
          </a:prstGeom>
          <a:solidFill>
            <a:srgbClr val="0F5288"/>
          </a:solidFill>
          <a:ln w="12700">
            <a:solidFill>
              <a:srgbClr val="0F52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029200" y="1143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Q1 2027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0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Décisionnel++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66360" y="2057400"/>
            <a:ext cx="1554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Power BI embarqué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Heatmap absences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Export .pbix prêt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0" y="1097280"/>
            <a:ext cx="1737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7315200" y="1097280"/>
            <a:ext cx="1737360" cy="822960"/>
          </a:xfrm>
          <a:prstGeom prst="rect">
            <a:avLst/>
          </a:prstGeom>
          <a:solidFill>
            <a:srgbClr val="02AD60"/>
          </a:solidFill>
          <a:ln w="12700">
            <a:solidFill>
              <a:srgbClr val="02AD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315200" y="1143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Q2 2027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15200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Étendre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52360" y="2057400"/>
            <a:ext cx="1554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Recrutement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Carrière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 ouverte / intégrations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📌 Roadmap indicative · à valider en CODIR + DSI · budgets Q3 à provisionner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 / 31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940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Demande de validation CODIR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0" y="1097280"/>
            <a:ext cx="1828800" cy="54864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Décisions attendues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20574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Validation mise en production V1.0 + V1.1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697480"/>
            <a:ext cx="548640" cy="548640"/>
          </a:xfrm>
          <a:prstGeom prst="ellipse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9164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Validation plan de bascule (4 semaines)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3383280"/>
            <a:ext cx="548640" cy="548640"/>
          </a:xfrm>
          <a:prstGeom prst="ellipse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91440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91640" y="3429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Validation budget formation utilisateurs (8h × 2 sessions)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4069080"/>
            <a:ext cx="548640" cy="548640"/>
          </a:xfrm>
          <a:prstGeom prst="ellipse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91440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91640" y="41148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Validation roadmap Phase 2 indicative (Q3 2026 → Q2 2027)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29 / 31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Démonstration en direct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20-30 minutes sur l'environnement Recette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1188720" cy="54864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0-3 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1097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Connexion &amp; accueil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0" y="1097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Login utilisateur RH · Tableau de bord d'accueil · Navigation principale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64592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65760" y="1645920"/>
            <a:ext cx="1188720" cy="54864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65760" y="16459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3-8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Cycle paie complet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23360" y="1691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Ouvrir période · Générer bulletins en masse · Recalculer · Valider · Exporter PDF/Excel · Bordereau IPRES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65760" y="2240280"/>
            <a:ext cx="1188720" cy="54864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65760" y="22402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8-13 min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9164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Workflow congés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23360" y="2286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Salarié saisit demande · N+1 valide · RH accorde · Calendrier mis à jour · Solde décrémenté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83464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65760" y="2834640"/>
            <a:ext cx="1188720" cy="54864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65760" y="28346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13-18 min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9164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Module Intérimaires V1.1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23360" y="2880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Créer fiche · Demande recrutement · Contrat avec multi-affectation Site/Unités · Mouvement entre sites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42900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65760" y="3429000"/>
            <a:ext cx="1188720" cy="54864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65760" y="3429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18-25 min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91640" y="3474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6 Dashboards RH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023360" y="34747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Tour des 6 dashboards · Filtres · Export Excel synthèse · Bilan Social Mensuel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402336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65760" y="4023360"/>
            <a:ext cx="1188720" cy="54864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65760" y="4023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25-30 min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691640" y="4069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Sécurité &amp; Audit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023360" y="4069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Connexion en RH_Manager (lecture seule) · Journal d'audit · Validation traçabilité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 / 31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940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Q&amp;A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E50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 · Échanges · Décision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0" y="3383280"/>
            <a:ext cx="1828800" cy="54864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Merci pour votre attention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Abdoulaye DIENG</a:t>
            </a:r>
            <a:r>
              <a:rPr lang="en-US" sz="1300" dirty="0">
                <a:solidFill>
                  <a:srgbClr val="E50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</a:t>
            </a:r>
            <a:r>
              <a:rPr lang="en-US" sz="13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Direction Système d'Information</a:t>
            </a:r>
            <a:r>
              <a:rPr lang="en-US" sz="1300" dirty="0">
                <a:solidFill>
                  <a:srgbClr val="E50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</a:t>
            </a:r>
            <a:r>
              <a:rPr lang="en-US" sz="13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ELTON Oil Company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3764</Words>
  <Application>Microsoft Office PowerPoint</Application>
  <PresentationFormat>Affichage à l'écran (16:9)</PresentationFormat>
  <Paragraphs>714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6" baseType="lpstr">
      <vt:lpstr>Arial</vt:lpstr>
      <vt:lpstr>Consolas</vt:lpstr>
      <vt:lpstr>Poppins</vt:lpstr>
      <vt:lpstr>Ubuntu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ELTON Oil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SunuPaie ELTON - Présentation CODIR Mai 2026</dc:title>
  <dc:subject>PptxGenJS Presentation</dc:subject>
  <dc:creator>Abdoulaye Dieng</dc:creator>
  <cp:lastModifiedBy>Abdoulaye DIENG</cp:lastModifiedBy>
  <cp:revision>2</cp:revision>
  <dcterms:created xsi:type="dcterms:W3CDTF">2026-05-04T22:10:27Z</dcterms:created>
  <dcterms:modified xsi:type="dcterms:W3CDTF">2026-05-04T22:20:06Z</dcterms:modified>
</cp:coreProperties>
</file>