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18A1C"/>
                </a:solidFill>
                <a:latin typeface="Calibri"/>
              </a:rPr>
              <a:t>ELTON Oil Company - SunuPaie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Addendum CODIR - V1.2 + V1.3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109441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Pilotage strategique DAF + DRH + Module Cout Reel Interimaires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F18A1C"/>
                </a:solidFill>
                <a:latin typeface="Calibri"/>
              </a:rPr>
              <a:t>Mai 2026 | Suite du PowerPoint initial (V1.0 + V1.1)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23774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572000"/>
            <a:ext cx="2377440" cy="73152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21945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DASHBOARDS INITIAUX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6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V1.0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4572000"/>
            <a:ext cx="23774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4572000"/>
            <a:ext cx="2377440" cy="73152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709160"/>
            <a:ext cx="21945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DASHBOARDS V1.2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+4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DAF + DRH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572000"/>
            <a:ext cx="23774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572000"/>
            <a:ext cx="2377440" cy="73152"/>
          </a:xfrm>
          <a:prstGeom prst="rect">
            <a:avLst/>
          </a:prstGeom>
          <a:solidFill>
            <a:srgbClr val="E5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709160"/>
            <a:ext cx="21945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MODULE V1.3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+1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Cout Reel Interim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4572000"/>
            <a:ext cx="23774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4572000"/>
            <a:ext cx="2377440" cy="73152"/>
          </a:xfrm>
          <a:prstGeom prst="rect">
            <a:avLst/>
          </a:prstGeom>
          <a:solidFill>
            <a:srgbClr val="2EA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4709160"/>
            <a:ext cx="21945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TOTAL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11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Dashboards de pilotage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60175" cy="777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Evolution du module Tableaux de bord</a:t>
            </a:r>
          </a:p>
          <a:p>
            <a:pPr algn="l"/>
            <a:r>
              <a:rPr sz="1400">
                <a:solidFill>
                  <a:srgbClr val="F18A1C"/>
                </a:solidFill>
                <a:latin typeface="Calibri"/>
              </a:rPr>
              <a:t>De 6 dashboards V1.0 vers 11 dashboards de pilotage strategique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A73B5"/>
                </a:solidFill>
                <a:latin typeface="Calibri"/>
              </a:rPr>
              <a:t>V1.0 - Bilan social classique (6 dashboards)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73152" cy="502920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N1 - Effectif detaille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Pyramide ages H/F par categorie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73152" cy="502920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N2 - Analyse Effectif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Global / Moyen / Evolution 8 ans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73152" cy="502920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N3 - Mouvements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Arrivees / Departs par mois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7472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73152" cy="502920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N4 - Remuneration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Egalite salariale H/F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6908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73152" cy="502920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N5 - Suivi Absences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Conges, arrets, top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6344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663440"/>
            <a:ext cx="73152" cy="502920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N6 - Bilan Social Mensuel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12 mois x 17 indicateurs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34840" y="3017520"/>
            <a:ext cx="502920" cy="548640"/>
          </a:xfrm>
          <a:prstGeom prst="rightArrow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1188720"/>
            <a:ext cx="3520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18A1C"/>
                </a:solidFill>
                <a:latin typeface="Calibri"/>
              </a:rPr>
              <a:t>V1.2 - Pilotage DAF + DRH (+4)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1691640"/>
            <a:ext cx="35204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20" y="1691640"/>
            <a:ext cx="73152" cy="68580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1783080"/>
            <a:ext cx="3246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N7 - Budget vs Realise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DAF | Annuel + 5 ans glissants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2468880"/>
            <a:ext cx="35204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74920" y="2468880"/>
            <a:ext cx="73152" cy="68580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2560320"/>
            <a:ext cx="3246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N8 - Provisions Sociales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DAF | IDR (CCI Senegal) + Conges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74920" y="3246120"/>
            <a:ext cx="35204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74920" y="3246120"/>
            <a:ext cx="73152" cy="68580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3337560"/>
            <a:ext cx="3246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N9 - Cout Complet salarie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Fully Loaded Cost + multiplicateur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4023360"/>
            <a:ext cx="35204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74920" y="4023360"/>
            <a:ext cx="73152" cy="68580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7800" y="4114800"/>
            <a:ext cx="32461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N10 - Conformite Senegal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9 indicateurs reglementaires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8732520" y="3017520"/>
            <a:ext cx="502920" cy="548640"/>
          </a:xfrm>
          <a:prstGeom prst="rightArrow">
            <a:avLst/>
          </a:prstGeom>
          <a:solidFill>
            <a:srgbClr val="E5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600" y="1188720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5003D"/>
                </a:solidFill>
                <a:latin typeface="Calibri"/>
              </a:rPr>
              <a:t>V1.3 - Pilotage Interim (+1)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1691640"/>
            <a:ext cx="24688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72600" y="1691640"/>
            <a:ext cx="73152" cy="1828800"/>
          </a:xfrm>
          <a:prstGeom prst="rect">
            <a:avLst/>
          </a:prstGeom>
          <a:solidFill>
            <a:srgbClr val="E5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1783080"/>
            <a:ext cx="219456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N11 - Cout Reel Interim</a:t>
            </a:r>
          </a:p>
          <a:p>
            <a:pPr algn="l">
              <a:spcBef>
                <a:spcPts val="400"/>
              </a:spcBef>
            </a:pPr>
            <a:r>
              <a:rPr sz="1000">
                <a:solidFill>
                  <a:srgbClr val="5C6679"/>
                </a:solidFill>
                <a:latin typeface="Calibri"/>
              </a:rPr>
              <a:t>DAF | TTC factures sociales d'interim vs cout theorique contrat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3749039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42E4D"/>
                </a:solidFill>
                <a:latin typeface="Calibri"/>
              </a:rPr>
              <a:t>Multiplicateur Brut-&gt;TTC ~1.91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4069080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679"/>
                </a:solidFill>
                <a:latin typeface="Calibri"/>
              </a:rPr>
              <a:t>Detection ecarts contrat/reel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4389120"/>
            <a:ext cx="2468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679"/>
                </a:solidFill>
                <a:latin typeface="Calibri"/>
              </a:rPr>
              <a:t>Validation factures avant paiement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760720"/>
            <a:ext cx="11460175" cy="64008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852160"/>
            <a:ext cx="1127729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Investissement V1.2 + V1.3 : ~28 jours dev | Couvrent 100% des besoins DAF + DRH evoques au CODIR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5C6679"/>
                </a:solidFill>
                <a:latin typeface="Calibri"/>
              </a:rPr>
              <a:t>SunuPaie ELTON | Addendum CODIR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60175" cy="777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V1.2 - 4 dashboards Pilotage DAF + DRH</a:t>
            </a:r>
          </a:p>
          <a:p>
            <a:pPr algn="l"/>
            <a:r>
              <a:rPr sz="1400">
                <a:solidFill>
                  <a:srgbClr val="F18A1C"/>
                </a:solidFill>
                <a:latin typeface="Calibri"/>
              </a:rPr>
              <a:t>Reponse aux gaps identifies en revue strategique post-CODIR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577840" cy="73152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TABLEAU N7 - BUDGET vs REALISE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A73B5"/>
                </a:solidFill>
                <a:latin typeface="Calibri"/>
              </a:rPr>
              <a:t>Pilotage DAF | Vue annuelle simplifiee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6679"/>
                </a:solidFill>
                <a:latin typeface="Calibri"/>
              </a:rPr>
              <a:t>KPIs cles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Budget brut annuel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78608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Realise brut YTD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Ecart valeur +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80944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Sites en depassement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4612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6679"/>
                </a:solidFill>
                <a:latin typeface="Calibri"/>
              </a:rPr>
              <a:t>Sections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Evolution 5 ans glissants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75888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Ventilation par 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280160"/>
            <a:ext cx="55778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280160"/>
            <a:ext cx="5577840" cy="73152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444752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TABLEAU N8 - PROVISIONS SOCIALES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8308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18A1C"/>
                </a:solidFill>
                <a:latin typeface="Calibri"/>
              </a:rPr>
              <a:t>DAF + Audit | Conformite SYSCOHADA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4884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6679"/>
                </a:solidFill>
                <a:latin typeface="Calibri"/>
              </a:rPr>
              <a:t>KPIs cles 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377440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Provision IDR (bareme CCI Senegal)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578608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Provision Conges Payes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779776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Total a provisionner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980944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Variation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24612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6679"/>
                </a:solidFill>
                <a:latin typeface="Calibri"/>
              </a:rPr>
              <a:t>Sections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474720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Top 10 plus fortes provisions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675888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Ventilation par tranche anciennete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69080"/>
            <a:ext cx="55778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069080"/>
            <a:ext cx="5577840" cy="7315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33672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TABLEAU N9 - COUT COMPLET salarie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57200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B5EA7"/>
                </a:solidFill>
                <a:latin typeface="Calibri"/>
              </a:rPr>
              <a:t>DAF + DRH | Fully Loaded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93776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6679"/>
                </a:solidFill>
                <a:latin typeface="Calibri"/>
              </a:rPr>
              <a:t>KPIs cles 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66360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Cout total annuel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67528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Cout moyen / salarie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568696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Taux charges patronales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769864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Multiplicateur Net-&gt;Total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03504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6679"/>
                </a:solidFill>
                <a:latin typeface="Calibri"/>
              </a:rPr>
              <a:t>Sections 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263640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Decomposition: Net/Cotis/Charges/Avantages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64808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Top 10 couts les plus eleves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069080"/>
            <a:ext cx="55778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069080"/>
            <a:ext cx="5577840" cy="73152"/>
          </a:xfrm>
          <a:prstGeom prst="rect">
            <a:avLst/>
          </a:prstGeom>
          <a:solidFill>
            <a:srgbClr val="2EA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233672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TABLEAU N10 - CONFORMITE SENEGAL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57200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2EA75B"/>
                </a:solidFill>
                <a:latin typeface="Calibri"/>
              </a:rPr>
              <a:t>DAF + DRH + Audit | Audit-ready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493776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6679"/>
                </a:solidFill>
                <a:latin typeface="Calibri"/>
              </a:rPr>
              <a:t>KPIs cles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166360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SMIG respecte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5367528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CDD &lt; 2 ans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568696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Stages &lt; 6 mois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5769864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Soldes conges &lt; 30 j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6035040"/>
            <a:ext cx="5303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C6679"/>
                </a:solidFill>
                <a:latin typeface="Calibri"/>
              </a:rPr>
              <a:t>Sections 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6263640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9 indicateurs feux tricolores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37960" y="6464808"/>
            <a:ext cx="5212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142E4D"/>
                </a:solidFill>
                <a:latin typeface="Calibri"/>
              </a:rPr>
              <a:t>-  Score conformite global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5C6679"/>
                </a:solidFill>
                <a:latin typeface="Calibri"/>
              </a:rPr>
              <a:t>SunuPaie ELTON | Addendum CODIR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60175" cy="777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Module Budget RH - Entite socle V1.2.1</a:t>
            </a:r>
          </a:p>
          <a:p>
            <a:pPr algn="l"/>
            <a:r>
              <a:rPr sz="1400">
                <a:solidFill>
                  <a:srgbClr val="F18A1C"/>
                </a:solidFill>
                <a:latin typeface="Calibri"/>
              </a:rPr>
              <a:t>Saisie annuelle simplifiee suite revue DAF (mai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5C6679"/>
                </a:solidFill>
                <a:latin typeface="Calibri"/>
              </a:rPr>
              <a:t>AVANT (V1.2 initiale)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E4D"/>
                </a:solidFill>
                <a:latin typeface="Calibri"/>
              </a:rPr>
              <a:t>Saisie mensuelle x 9 rubriques x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6679"/>
                </a:solidFill>
                <a:latin typeface="Calibri"/>
              </a:rPr>
              <a:t>Volume : ~180 lignes par annee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6679"/>
                </a:solidFill>
                <a:latin typeface="Calibri"/>
              </a:rPr>
              <a:t>Complexite : mensualisation auto, gratifications S1/S2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E5003D"/>
                </a:solidFill>
                <a:latin typeface="Calibri"/>
              </a:rPr>
              <a:t>Refus DAF : trop complexe pour la realite metier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43600" y="2103120"/>
            <a:ext cx="365760" cy="365760"/>
          </a:xfrm>
          <a:prstGeom prst="rightArrow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EA75B"/>
                </a:solidFill>
                <a:latin typeface="Calibri"/>
              </a:rPr>
              <a:t>APRES (V1.2.1 - mise en prod)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E4D"/>
                </a:solidFill>
                <a:latin typeface="Calibri"/>
              </a:rPr>
              <a:t>Saisie annuelle sur le BRUT x 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6679"/>
                </a:solidFill>
                <a:latin typeface="Calibri"/>
              </a:rPr>
              <a:t>Volume : 1 a 4 lignes par annee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23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6679"/>
                </a:solidFill>
                <a:latin typeface="Calibri"/>
              </a:rPr>
              <a:t>Saisie : Annee + Site + MontantBrutAnnuel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889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EA75B"/>
                </a:solidFill>
                <a:latin typeface="Calibri"/>
              </a:rPr>
              <a:t>Approuve par DAF en revue 2026-05-05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11460175" cy="2011680"/>
          </a:xfrm>
          <a:prstGeom prst="rect">
            <a:avLst/>
          </a:prstGeom>
          <a:solidFill>
            <a:srgbClr val="F6F7F9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20440"/>
            <a:ext cx="1109441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Donnees demo seedees (3 annees glissantes)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2743200" cy="73152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6052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BUDGET 2024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1,38 Md FCFA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Annee de reference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402336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66160" y="4023360"/>
            <a:ext cx="2743200" cy="73152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416052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BUDGET 2025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1,45 Md FCFA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+5% inflation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02336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4023360"/>
            <a:ext cx="2743200" cy="73152"/>
          </a:xfrm>
          <a:prstGeom prst="rect">
            <a:avLst/>
          </a:prstGeom>
          <a:solidFill>
            <a:srgbClr val="2EA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16052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BUDGET 2026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1,52 Md FCFA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+5% N+1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0" y="4023360"/>
            <a:ext cx="237744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4023360"/>
            <a:ext cx="2377440" cy="7315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4160520"/>
            <a:ext cx="21945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TOTAL SEED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12 lignes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1 global + 3 sites x 3 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69280"/>
            <a:ext cx="11460175" cy="64008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Benefice : DAF saisit son budget CODIR en moins de 2 minutes par annee. Ecart automatique vs realise bulletins.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5C6679"/>
                </a:solidFill>
                <a:latin typeface="Calibri"/>
              </a:rPr>
              <a:t>SunuPaie ELTON | Addendum CODIR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60175" cy="777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V1.3 Sprint 1 - Cout Reel Interimaires</a:t>
            </a:r>
          </a:p>
          <a:p>
            <a:pPr algn="l"/>
            <a:r>
              <a:rPr sz="1400">
                <a:solidFill>
                  <a:srgbClr val="F18A1C"/>
                </a:solidFill>
                <a:latin typeface="Calibri"/>
              </a:rPr>
              <a:t>Module pilotage de la facturation des societes d'interim (livre OK 2026-05-05)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60175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6679"/>
                </a:solidFill>
                <a:latin typeface="Calibri"/>
              </a:rPr>
              <a:t>Probleme metier resolu : aujourd'hui le cout interim affiche dans l'app est theorique (TauxJournalier x 22). Or ELTON paye en realite le TTC de la facture mensuelle societe d'interim (debours + charges + commission + TVA).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14601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Test d'integration valide (mars 2026 - 31 lignes)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2743200" cy="73152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BRUT IMPOSABLE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4,08 M FCFA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Salaire reel des 30 interim.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28600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286000"/>
            <a:ext cx="2743200" cy="73152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42316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TTC PAYE PAR ELTON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7,78 M FCFA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Cout reel mensuel facture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286000"/>
            <a:ext cx="274320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743200" cy="73152"/>
          </a:xfrm>
          <a:prstGeom prst="rect">
            <a:avLst/>
          </a:prstGeom>
          <a:solidFill>
            <a:srgbClr val="E5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423160"/>
            <a:ext cx="25603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MULTIPLICATEUR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x1.91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1 FCFA brut = 1.91 FCFA reel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286000"/>
            <a:ext cx="26974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286000"/>
            <a:ext cx="2697480" cy="73152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423160"/>
            <a:ext cx="2514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5C6679"/>
                </a:solidFill>
                <a:latin typeface="Calibri"/>
              </a:rPr>
              <a:t>ANNUALISE (~12 MOIS)</a:t>
            </a:r>
          </a:p>
          <a:p>
            <a:pPr algn="ctr"/>
            <a:r>
              <a:rPr sz="2200" b="1">
                <a:solidFill>
                  <a:srgbClr val="142E4D"/>
                </a:solidFill>
                <a:latin typeface="Calibri"/>
              </a:rPr>
              <a:t>~93 M FCFA</a:t>
            </a:r>
          </a:p>
          <a:p>
            <a:pPr algn="ctr"/>
            <a:r>
              <a:rPr sz="900">
                <a:solidFill>
                  <a:srgbClr val="5C6679"/>
                </a:solidFill>
                <a:latin typeface="Calibri"/>
              </a:rPr>
              <a:t>Cout total 30 interim/an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657600"/>
            <a:ext cx="114601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E4D"/>
                </a:solidFill>
                <a:latin typeface="Calibri"/>
              </a:rPr>
              <a:t>Workflow utilisateur (5 etapes)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2240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2057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1A73B5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42E4D"/>
                </a:solidFill>
                <a:latin typeface="Calibri"/>
              </a:rPr>
              <a:t>Recevoir facture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C6679"/>
                </a:solidFill>
                <a:latin typeface="Calibri"/>
              </a:rPr>
              <a:t>Excel mensuel societe d'interim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79" y="4114800"/>
            <a:ext cx="2240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18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19" y="4206240"/>
            <a:ext cx="2057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F18A1C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19" y="466344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42E4D"/>
                </a:solidFill>
                <a:latin typeface="Calibri"/>
              </a:rPr>
              <a:t>Wizard import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19" y="502920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C6679"/>
                </a:solidFill>
                <a:latin typeface="Calibri"/>
              </a:rPr>
              <a:t>Annee + Mois + Societe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4114800"/>
            <a:ext cx="2240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A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4206240"/>
            <a:ext cx="2057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2EA75B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66344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42E4D"/>
                </a:solidFill>
                <a:latin typeface="Calibri"/>
              </a:rPr>
              <a:t>Upload + Preview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02920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C6679"/>
                </a:solidFill>
                <a:latin typeface="Calibri"/>
              </a:rPr>
              <a:t>Verifier 31 lignes parsees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19" y="4114800"/>
            <a:ext cx="2240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59" y="4206240"/>
            <a:ext cx="2057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7B5EA7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59" y="466344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42E4D"/>
                </a:solidFill>
                <a:latin typeface="Calibri"/>
              </a:rPr>
              <a:t>Confirmer 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59" y="502920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C6679"/>
                </a:solidFill>
                <a:latin typeface="Calibri"/>
              </a:rPr>
              <a:t>Cocher Ecraser si refaire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4114800"/>
            <a:ext cx="224028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0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4206240"/>
            <a:ext cx="2057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E5003D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466344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42E4D"/>
                </a:solidFill>
                <a:latin typeface="Calibri"/>
              </a:rPr>
              <a:t>Dashboard N11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029200"/>
            <a:ext cx="2057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5C6679"/>
                </a:solidFill>
                <a:latin typeface="Calibri"/>
              </a:rPr>
              <a:t>Voir KPIs + ecart contrat/reel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715000"/>
            <a:ext cx="11460175" cy="64008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806440"/>
            <a:ext cx="11277295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Argument differenciant fort vs Fafadie Paie : aucune autre application au Senegal ne fait cette comparaison contrat / reel.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5C6679"/>
                </a:solidFill>
                <a:latin typeface="Calibri"/>
              </a:rPr>
              <a:t>SunuPaie ELTON | Addendum CODIR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60175" cy="777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Roadmap V1.3 - Suite des sprints</a:t>
            </a:r>
          </a:p>
          <a:p>
            <a:pPr algn="l"/>
            <a:r>
              <a:rPr sz="1400">
                <a:solidFill>
                  <a:srgbClr val="F18A1C"/>
                </a:solidFill>
                <a:latin typeface="Calibri"/>
              </a:rPr>
              <a:t>4 modules complementaires apres validation CODIR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60175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EA75B"/>
                </a:solidFill>
                <a:latin typeface="Calibri"/>
              </a:rPr>
              <a:t>Sprint 1 livre (mai 2026) : V1.3 - Cout Reel Interimaires (production-ready)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1460175" cy="8686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91440" cy="868680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79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1A73B5"/>
                </a:solidFill>
                <a:latin typeface="Calibri"/>
              </a:rPr>
              <a:t>Sprint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19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679"/>
                </a:solidFill>
                <a:latin typeface="Calibri"/>
              </a:rPr>
              <a:t>7 jours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11679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42E4D"/>
                </a:solidFill>
                <a:latin typeface="Calibri"/>
              </a:rPr>
              <a:t>GPEC / Skill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31719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Demarrage post-CODIR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965959"/>
            <a:ext cx="62480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679"/>
                </a:solidFill>
                <a:latin typeface="Calibri"/>
              </a:rPr>
              <a:t>Cartographie competences par equipe, identification gaps, plan de formation cible. Necessite refonte modele Competences (entite absente aujourd'hui).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39"/>
            <a:ext cx="11460175" cy="8686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834639"/>
            <a:ext cx="91440" cy="86868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71799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F18A1C"/>
                </a:solidFill>
                <a:latin typeface="Calibri"/>
              </a:rPr>
              <a:t>Sprint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39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679"/>
                </a:solidFill>
                <a:latin typeface="Calibri"/>
              </a:rPr>
              <a:t>5 jours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971799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42E4D"/>
                </a:solidFill>
                <a:latin typeface="Calibri"/>
              </a:rPr>
              <a:t>Plan de releve (Succession Planning)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291839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Demarrage post-CODIR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926079"/>
            <a:ext cx="62480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679"/>
                </a:solidFill>
                <a:latin typeface="Calibri"/>
              </a:rPr>
              <a:t>Identifier postes critiques + 2 successeurs avec readiness. Workflow de validation. Reduit le risque continuite operationnelle.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11460175" cy="8686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91440" cy="86868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7B5EA7"/>
                </a:solidFill>
                <a:latin typeface="Calibri"/>
              </a:rPr>
              <a:t>Sprint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5196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679"/>
                </a:solidFill>
                <a:latin typeface="Calibri"/>
              </a:rPr>
              <a:t>4 jours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3931920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42E4D"/>
                </a:solidFill>
                <a:latin typeface="Calibri"/>
              </a:rPr>
              <a:t>Pay Equity Gap H/F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251960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Demarrage post-CODIR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886200"/>
            <a:ext cx="62480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679"/>
                </a:solidFill>
                <a:latin typeface="Calibri"/>
              </a:rPr>
              <a:t>Calcul ecart H/F par poste equivalent. Methodologie a definir avec DRH. Sensible juridiquement, prepare la conformite RSE.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54880"/>
            <a:ext cx="11460175" cy="8686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754880"/>
            <a:ext cx="91440" cy="868680"/>
          </a:xfrm>
          <a:prstGeom prst="rect">
            <a:avLst/>
          </a:prstGeom>
          <a:solidFill>
            <a:srgbClr val="2EA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EA75B"/>
                </a:solidFill>
                <a:latin typeface="Calibri"/>
              </a:rPr>
              <a:t>Sprint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12080"/>
            <a:ext cx="1828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679"/>
                </a:solidFill>
                <a:latin typeface="Calibri"/>
              </a:rPr>
              <a:t>4 jours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892040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42E4D"/>
                </a:solidFill>
                <a:latin typeface="Calibri"/>
              </a:rPr>
              <a:t>Suivi entretiens annuels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5212080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Demarrage post-CODIR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846320"/>
            <a:ext cx="6248095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679"/>
                </a:solidFill>
                <a:latin typeface="Calibri"/>
              </a:rPr>
              <a:t>Workflow EntretienAnnuel complet : objectifs N+1, plan d'action, validation N+2. Entite existe mais workflow incomplet.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852160"/>
            <a:ext cx="11460175" cy="50292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897880"/>
            <a:ext cx="11277295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 V1.3 Sprints 2-5 : ~20 jours dev (4-5 semaines) | Sous reserve d'arbitrage CODIR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5C6679"/>
                </a:solidFill>
                <a:latin typeface="Calibri"/>
              </a:rPr>
              <a:t>SunuPaie ELTON | Addendum CODIR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60175" cy="7772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Decision CODIR demandee</a:t>
            </a:r>
          </a:p>
          <a:p>
            <a:pPr algn="l"/>
            <a:r>
              <a:rPr sz="1400">
                <a:solidFill>
                  <a:srgbClr val="F18A1C"/>
                </a:solidFill>
                <a:latin typeface="Calibri"/>
              </a:rPr>
              <a:t>Validation V1.2 + V1.3 Sprint 1 + arbitrage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749039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2EA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83080" y="1417320"/>
            <a:ext cx="914400" cy="914400"/>
          </a:xfrm>
          <a:prstGeom prst="ellipse">
            <a:avLst/>
          </a:prstGeom>
          <a:solidFill>
            <a:srgbClr val="2EA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55448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3832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42E4D"/>
                </a:solidFill>
                <a:latin typeface="Calibri"/>
              </a:rPr>
              <a:t>Validation mise en production V1.2 + V1.3 Sprint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5 nouveaux dashboards de pilotage (N7-N11)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Module Budget RH (saisie annuelle)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Module Cout Reel Interimaires (test OK)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Tous tests d'integration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Documentation help 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749039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F18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15000" y="1417320"/>
            <a:ext cx="914400" cy="914400"/>
          </a:xfrm>
          <a:prstGeom prst="ellipse">
            <a:avLst/>
          </a:prstGeom>
          <a:solidFill>
            <a:srgbClr val="F18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155448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468880"/>
            <a:ext cx="33832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42E4D"/>
                </a:solidFill>
                <a:latin typeface="Calibri"/>
              </a:rPr>
              <a:t>Arbitrage roadmap V1.3 suite (Sprints 2-5)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08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Sprint 2 - GPEC / Skill Matrix (7j)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747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Sprint 3 - Plan de releve (5j)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84048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Sprint 4 - Pay Equity Gap H/F (4j)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0624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Sprint 5 - Suivi entretiens annuels (4j)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7200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Priorisation par DRH a fournir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280160"/>
            <a:ext cx="3749039" cy="4206240"/>
          </a:xfrm>
          <a:prstGeom prst="rect">
            <a:avLst/>
          </a:prstGeom>
          <a:solidFill>
            <a:srgbClr val="FFFFFF"/>
          </a:solidFill>
          <a:ln w="38100">
            <a:solidFill>
              <a:srgbClr val="1A7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46920" y="1417320"/>
            <a:ext cx="914400" cy="914400"/>
          </a:xfrm>
          <a:prstGeom prst="ellipse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554480"/>
            <a:ext cx="914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33832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142E4D"/>
                </a:solidFill>
                <a:latin typeface="Calibri"/>
              </a:rPr>
              <a:t>Validation parametres metier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108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Bareme IDR ELTON (CCI standard ou avenant ?)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47472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Seuils alerte budget vs realise (5% ?)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84048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Liste des sites prioritaires pilotage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20624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Liste des societes d'interim partenaires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57200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679"/>
                </a:solidFill>
                <a:latin typeface="Calibri"/>
              </a:rPr>
              <a:t>-  Date demarrage prochain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669280"/>
            <a:ext cx="11460175" cy="777240"/>
          </a:xfrm>
          <a:prstGeom prst="rect">
            <a:avLst/>
          </a:prstGeom>
          <a:solidFill>
            <a:srgbClr val="E5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Merci - Questions / Discussion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5C6679"/>
                </a:solidFill>
                <a:latin typeface="Calibri"/>
              </a:rPr>
              <a:t>SunuPaie ELTON | Addendum CODIR | Slide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